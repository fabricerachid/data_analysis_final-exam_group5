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57.png" ContentType="image/png"/>
  <Override PartName="/ppt/media/image256.png" ContentType="image/png"/>
  <Override PartName="/ppt/media/image255.png" ContentType="image/png"/>
  <Override PartName="/ppt/media/image254.png" ContentType="image/png"/>
  <Override PartName="/ppt/media/image253.png" ContentType="image/png"/>
  <Override PartName="/ppt/media/image252.png" ContentType="image/png"/>
  <Override PartName="/ppt/media/image251.png" ContentType="image/png"/>
  <Override PartName="/ppt/media/image163.png" ContentType="image/png"/>
  <Override PartName="/ppt/media/image63.png" ContentType="image/png"/>
  <Override PartName="/ppt/media/image11.png" ContentType="image/png"/>
  <Override PartName="/ppt/media/image111.png" ContentType="image/png"/>
  <Override PartName="/ppt/media/image12.png" ContentType="image/png"/>
  <Override PartName="/ppt/media/image80.png" ContentType="image/png"/>
  <Override PartName="/ppt/media/image112.png" ContentType="image/png"/>
  <Override PartName="/ppt/media/image13.png" ContentType="image/png"/>
  <Override PartName="/ppt/media/image113.png" ContentType="image/png"/>
  <Override PartName="/ppt/media/image81.png" ContentType="image/png"/>
  <Override PartName="/ppt/media/image181.png" ContentType="image/png"/>
  <Override PartName="/ppt/media/image65.png" ContentType="image/png"/>
  <Override PartName="/ppt/media/image165.png" ContentType="image/png"/>
  <Override PartName="/ppt/media/image166.png" ContentType="image/png"/>
  <Override PartName="/ppt/media/image66.png" ContentType="image/png"/>
  <Override PartName="/ppt/media/image14.png" ContentType="image/png"/>
  <Override PartName="/ppt/media/image114.png" ContentType="image/png"/>
  <Override PartName="/ppt/media/image82.png" ContentType="image/png"/>
  <Override PartName="/ppt/media/image182.png" ContentType="image/png"/>
  <Override PartName="/ppt/media/image167.png" ContentType="image/png"/>
  <Override PartName="/ppt/media/image67.png" ContentType="image/png"/>
  <Override PartName="/ppt/media/image15.png" ContentType="image/png"/>
  <Override PartName="/ppt/media/image115.png" ContentType="image/png"/>
  <Override PartName="/ppt/media/image83.png" ContentType="image/png"/>
  <Override PartName="/ppt/media/image183.png" ContentType="image/png"/>
  <Override PartName="/ppt/media/image168.png" ContentType="image/png"/>
  <Override PartName="/ppt/media/image68.png" ContentType="image/png"/>
  <Override PartName="/ppt/media/image16.png" ContentType="image/png"/>
  <Override PartName="/ppt/media/image116.png" ContentType="image/png"/>
  <Override PartName="/ppt/media/image184.png" ContentType="image/png"/>
  <Override PartName="/ppt/media/image84.png" ContentType="image/png"/>
  <Override PartName="/ppt/media/image169.png" ContentType="image/png"/>
  <Override PartName="/ppt/media/image69.png" ContentType="image/png"/>
  <Override PartName="/ppt/media/image102.png" ContentType="image/png"/>
  <Override PartName="/ppt/media/image70.png" ContentType="image/png"/>
  <Override PartName="/ppt/media/image170.png" ContentType="image/png"/>
  <Override PartName="/ppt/media/image103.png" ContentType="image/png"/>
  <Override PartName="/ppt/media/image71.png" ContentType="image/png"/>
  <Override PartName="/ppt/media/image171.png" ContentType="image/png"/>
  <Override PartName="/ppt/media/image104.png" ContentType="image/png"/>
  <Override PartName="/ppt/media/image72.png" ContentType="image/png"/>
  <Override PartName="/ppt/media/image172.png" ContentType="image/png"/>
  <Override PartName="/ppt/media/image120.png" ContentType="image/png"/>
  <Override PartName="/ppt/media/image20.png" ContentType="image/png"/>
  <Override PartName="/ppt/media/image105.png" ContentType="image/png"/>
  <Override PartName="/ppt/media/image73.png" ContentType="image/png"/>
  <Override PartName="/ppt/media/image173.png" ContentType="image/png"/>
  <Override PartName="/ppt/media/image21.png" ContentType="image/png"/>
  <Override PartName="/ppt/media/image121.png" ContentType="image/png"/>
  <Override PartName="/ppt/media/image106.png" ContentType="image/png"/>
  <Override PartName="/ppt/media/image74.png" ContentType="image/png"/>
  <Override PartName="/ppt/media/image174.png" ContentType="image/png"/>
  <Override PartName="/ppt/media/image22.png" ContentType="image/png"/>
  <Override PartName="/ppt/media/image122.png" ContentType="image/png"/>
  <Override PartName="/ppt/media/image90.png" ContentType="image/png"/>
  <Override PartName="/ppt/media/image175.png" ContentType="image/png"/>
  <Override PartName="/ppt/media/image107.png" ContentType="image/png"/>
  <Override PartName="/ppt/media/image75.png" ContentType="image/png"/>
  <Override PartName="/ppt/media/image23.png" ContentType="image/png"/>
  <Override PartName="/ppt/media/image123.png" ContentType="image/png"/>
  <Override PartName="/ppt/media/image191.png" ContentType="image/png"/>
  <Override PartName="/ppt/media/image91.png" ContentType="image/png"/>
  <Override PartName="/ppt/media/image24.png" ContentType="image/png"/>
  <Override PartName="/ppt/media/image124.png" ContentType="image/png"/>
  <Override PartName="/ppt/media/image192.png" ContentType="image/png"/>
  <Override PartName="/ppt/media/image92.png" ContentType="image/png"/>
  <Override PartName="/ppt/media/image198.png" ContentType="image/png"/>
  <Override PartName="/ppt/media/image98.png" ContentType="image/png"/>
  <Override PartName="/ppt/media/image200.png" ContentType="image/png"/>
  <Override PartName="/ppt/media/image119.png" ContentType="image/png"/>
  <Override PartName="/ppt/media/image19.png" ContentType="image/png"/>
  <Override PartName="/ppt/media/image187.png" ContentType="image/png"/>
  <Override PartName="/ppt/media/image87.png" ContentType="image/png"/>
  <Override PartName="/ppt/media/image97.png" ContentType="image/png"/>
  <Override PartName="/ppt/media/image197.png" ContentType="image/png"/>
  <Override PartName="/ppt/media/image29.png" ContentType="image/png"/>
  <Override PartName="/ppt/media/image129.png" ContentType="image/png"/>
  <Override PartName="/ppt/media/image201.png" ContentType="image/png"/>
  <Override PartName="/ppt/media/image199.png" ContentType="image/png"/>
  <Override PartName="/ppt/media/image99.png" ContentType="image/png"/>
  <Override PartName="/ppt/media/image18.png" ContentType="image/png"/>
  <Override PartName="/ppt/media/image186.png" ContentType="image/png"/>
  <Override PartName="/ppt/media/image118.png" ContentType="image/png"/>
  <Override PartName="/ppt/media/image86.png" ContentType="image/png"/>
  <Override PartName="/ppt/media/image25.png" ContentType="image/png"/>
  <Override PartName="/ppt/media/image93.png" ContentType="image/png"/>
  <Override PartName="/ppt/media/image125.png" ContentType="image/png"/>
  <Override PartName="/ppt/media/image193.png" ContentType="image/png"/>
  <Override PartName="/ppt/media/image176.png" ContentType="image/png"/>
  <Override PartName="/ppt/media/image76.png" ContentType="image/png"/>
  <Override PartName="/ppt/media/image108.png" ContentType="image/png"/>
  <Override PartName="/ppt/media/image64.png" ContentType="image/png"/>
  <Override PartName="/ppt/media/image164.png" ContentType="image/png"/>
  <Override PartName="/ppt/media/image259.png" ContentType="image/png"/>
  <Override PartName="/ppt/media/image96.png" ContentType="image/png"/>
  <Override PartName="/ppt/media/image28.png" ContentType="image/png"/>
  <Override PartName="/ppt/media/image196.png" ContentType="image/png"/>
  <Override PartName="/ppt/media/image128.png" ContentType="image/png"/>
  <Override PartName="/ppt/media/image17.png" ContentType="image/png"/>
  <Override PartName="/ppt/media/image117.png" ContentType="image/png"/>
  <Override PartName="/ppt/media/image85.png" ContentType="image/png"/>
  <Override PartName="/ppt/media/image185.png" ContentType="image/png"/>
  <Override PartName="/ppt/media/image177.png" ContentType="image/png"/>
  <Override PartName="/ppt/media/image109.png" ContentType="image/png"/>
  <Override PartName="/ppt/media/image77.png" ContentType="image/png"/>
  <Override PartName="/ppt/media/image260.png" ContentType="image/png"/>
  <Override PartName="/ppt/media/image188.png" ContentType="image/png"/>
  <Override PartName="/ppt/media/image88.png" ContentType="image/png"/>
  <Override PartName="/ppt/media/image264.png" ContentType="image/png"/>
  <Override PartName="/ppt/media/image263.png" ContentType="image/png"/>
  <Override PartName="/ppt/media/image262.png" ContentType="image/png"/>
  <Override PartName="/ppt/media/image261.png" ContentType="image/png"/>
  <Override PartName="/ppt/media/image258.png" ContentType="image/png"/>
  <Override PartName="/ppt/media/image95.png" ContentType="image/png"/>
  <Override PartName="/ppt/media/image127.png" ContentType="image/png"/>
  <Override PartName="/ppt/media/image27.png" ContentType="image/png"/>
  <Override PartName="/ppt/media/image195.png" ContentType="image/png"/>
  <Override PartName="/ppt/media/image79.png" ContentType="image/png"/>
  <Override PartName="/ppt/media/image179.png" ContentType="image/png"/>
  <Override PartName="/ppt/media/image89.png" ContentType="image/png"/>
  <Override PartName="/ppt/media/image189.png" ContentType="image/png"/>
  <Override PartName="/ppt/media/image94.png" ContentType="image/png"/>
  <Override PartName="/ppt/media/image126.png" ContentType="image/png"/>
  <Override PartName="/ppt/media/image26.png" ContentType="image/png"/>
  <Override PartName="/ppt/media/image194.png" ContentType="image/png"/>
  <Override PartName="/ppt/media/image78.png" ContentType="image/png"/>
  <Override PartName="/ppt/media/image178.png" ContentType="image/png"/>
  <Override PartName="/ppt/media/image110.png" ContentType="image/png"/>
  <Override PartName="/ppt/media/image10.png" ContentType="image/png"/>
  <Override PartName="/ppt/media/image62.png" ContentType="image/png"/>
  <Override PartName="/ppt/media/image162.png" ContentType="image/png"/>
  <Override PartName="/ppt/media/image61.png" ContentType="image/png"/>
  <Override PartName="/ppt/media/image161.png" ContentType="image/png"/>
  <Override PartName="/ppt/media/image60.png" ContentType="image/png"/>
  <Override PartName="/ppt/media/image160.png" ContentType="image/png"/>
  <Override PartName="/ppt/media/image59.png" ContentType="image/png"/>
  <Override PartName="/ppt/media/image159.png" ContentType="image/png"/>
  <Override PartName="/ppt/media/image58.png" ContentType="image/png"/>
  <Override PartName="/ppt/media/image158.png" ContentType="image/png"/>
  <Override PartName="/ppt/media/image5.png" ContentType="image/png"/>
  <Override PartName="/ppt/media/image51.png" ContentType="image/png"/>
  <Override PartName="/ppt/media/image151.png" ContentType="image/png"/>
  <Override PartName="/ppt/media/image37.png" ContentType="image/png"/>
  <Override PartName="/ppt/media/image137.png" ContentType="image/png"/>
  <Override PartName="/ppt/media/image6.png" ContentType="image/png"/>
  <Override PartName="/ppt/media/image52.png" ContentType="image/png"/>
  <Override PartName="/ppt/media/image152.png" ContentType="image/png"/>
  <Override PartName="/ppt/media/image38.png" ContentType="image/png"/>
  <Override PartName="/ppt/media/image138.png" ContentType="image/png"/>
  <Override PartName="/ppt/media/image33.png" ContentType="image/png"/>
  <Override PartName="/ppt/media/image133.png" ContentType="image/png"/>
  <Override PartName="/ppt/media/image1.png" ContentType="image/png"/>
  <Override PartName="/ppt/media/image47.png" ContentType="image/png"/>
  <Override PartName="/ppt/media/image147.png" ContentType="image/png"/>
  <Override PartName="/ppt/media/image7.png" ContentType="image/png"/>
  <Override PartName="/ppt/media/image53.png" ContentType="image/png"/>
  <Override PartName="/ppt/media/image153.png" ContentType="image/png"/>
  <Override PartName="/ppt/media/image39.png" ContentType="image/png"/>
  <Override PartName="/ppt/media/image139.png" ContentType="image/png"/>
  <Override PartName="/ppt/media/image34.png" ContentType="image/png"/>
  <Override PartName="/ppt/media/image134.png" ContentType="image/png"/>
  <Override PartName="/ppt/media/image2.png" ContentType="image/png"/>
  <Override PartName="/ppt/media/image48.png" ContentType="image/png"/>
  <Override PartName="/ppt/media/image148.png" ContentType="image/png"/>
  <Override PartName="/ppt/media/image8.png" ContentType="image/png"/>
  <Override PartName="/ppt/media/image54.png" ContentType="image/png"/>
  <Override PartName="/ppt/media/image154.png" ContentType="image/png"/>
  <Override PartName="/ppt/media/image35.png" ContentType="image/png"/>
  <Override PartName="/ppt/media/image135.png" ContentType="image/png"/>
  <Override PartName="/ppt/media/image3.png" ContentType="image/png"/>
  <Override PartName="/ppt/media/image49.png" ContentType="image/png"/>
  <Override PartName="/ppt/media/image149.png" ContentType="image/png"/>
  <Override PartName="/ppt/media/image57.png" ContentType="image/png"/>
  <Override PartName="/ppt/media/image157.png" ContentType="image/png"/>
  <Override PartName="/ppt/media/image9.png" ContentType="image/png"/>
  <Override PartName="/ppt/media/image55.png" ContentType="image/png"/>
  <Override PartName="/ppt/media/image155.png" ContentType="image/png"/>
  <Override PartName="/ppt/media/image36.png" ContentType="image/png"/>
  <Override PartName="/ppt/media/image136.png" ContentType="image/png"/>
  <Override PartName="/ppt/media/image4.png" ContentType="image/png"/>
  <Override PartName="/ppt/media/image50.png" ContentType="image/png"/>
  <Override PartName="/ppt/media/image150.png" ContentType="image/png"/>
  <Override PartName="/ppt/media/image30.png" ContentType="image/png"/>
  <Override PartName="/ppt/media/image130.png" ContentType="image/png"/>
  <Override PartName="/ppt/media/image31.png" ContentType="image/png"/>
  <Override PartName="/ppt/media/image131.png" ContentType="image/png"/>
  <Override PartName="/ppt/media/image32.png" ContentType="image/png"/>
  <Override PartName="/ppt/media/image132.png" ContentType="image/png"/>
  <Override PartName="/ppt/media/image40.png" ContentType="image/png"/>
  <Override PartName="/ppt/media/image140.png" ContentType="image/png"/>
  <Override PartName="/ppt/media/image41.png" ContentType="image/png"/>
  <Override PartName="/ppt/media/image141.png" ContentType="image/png"/>
  <Override PartName="/ppt/media/image42.png" ContentType="image/png"/>
  <Override PartName="/ppt/media/image142.png" ContentType="image/png"/>
  <Override PartName="/ppt/media/image43.png" ContentType="image/png"/>
  <Override PartName="/ppt/media/image143.png" ContentType="image/png"/>
  <Override PartName="/ppt/media/image44.png" ContentType="image/png"/>
  <Override PartName="/ppt/media/image144.png" ContentType="image/png"/>
  <Override PartName="/ppt/media/image45.png" ContentType="image/png"/>
  <Override PartName="/ppt/media/image145.png" ContentType="image/png"/>
  <Override PartName="/ppt/media/image46.png" ContentType="image/png"/>
  <Override PartName="/ppt/media/image146.png" ContentType="image/png"/>
  <Override PartName="/ppt/media/image100.png" ContentType="image/png"/>
  <Override PartName="/ppt/media/image101.png" ContentType="image/png"/>
  <Override PartName="/ppt/media/image56.png" ContentType="image/png"/>
  <Override PartName="/ppt/media/image156.png" ContentType="image/png"/>
  <Override PartName="/ppt/media/image202.png" ContentType="image/png"/>
  <Override PartName="/ppt/media/image203.png" ContentType="image/png"/>
  <Override PartName="/ppt/media/image204.png" ContentType="image/png"/>
  <Override PartName="/ppt/media/image205.png" ContentType="image/png"/>
  <Override PartName="/ppt/media/image206.png" ContentType="image/png"/>
  <Override PartName="/ppt/media/image207.png" ContentType="image/png"/>
  <Override PartName="/ppt/media/image208.png" ContentType="image/png"/>
  <Override PartName="/ppt/media/image180.png" ContentType="image/png"/>
  <Override PartName="/ppt/media/image209.png" ContentType="image/png"/>
  <Override PartName="/ppt/media/image210.png" ContentType="image/png"/>
  <Override PartName="/ppt/media/image211.png" ContentType="image/png"/>
  <Override PartName="/ppt/media/image212.png" ContentType="image/png"/>
  <Override PartName="/ppt/media/image213.png" ContentType="image/png"/>
  <Override PartName="/ppt/media/image214.png" ContentType="image/png"/>
  <Override PartName="/ppt/media/image215.png" ContentType="image/png"/>
  <Override PartName="/ppt/media/image216.png" ContentType="image/png"/>
  <Override PartName="/ppt/media/image217.png" ContentType="image/png"/>
  <Override PartName="/ppt/media/image218.png" ContentType="image/png"/>
  <Override PartName="/ppt/media/image190.png" ContentType="image/png"/>
  <Override PartName="/ppt/media/image219.png" ContentType="image/png"/>
  <Override PartName="/ppt/media/image220.png" ContentType="image/png"/>
  <Override PartName="/ppt/media/image221.png" ContentType="image/png"/>
  <Override PartName="/ppt/media/image222.png" ContentType="image/png"/>
  <Override PartName="/ppt/media/image223.png" ContentType="image/png"/>
  <Override PartName="/ppt/media/image224.png" ContentType="image/png"/>
  <Override PartName="/ppt/media/image225.png" ContentType="image/png"/>
  <Override PartName="/ppt/media/image226.png" ContentType="image/png"/>
  <Override PartName="/ppt/media/image227.png" ContentType="image/png"/>
  <Override PartName="/ppt/media/image228.png" ContentType="image/png"/>
  <Override PartName="/ppt/media/image229.png" ContentType="image/png"/>
  <Override PartName="/ppt/media/image230.png" ContentType="image/png"/>
  <Override PartName="/ppt/media/image231.png" ContentType="image/png"/>
  <Override PartName="/ppt/media/image232.png" ContentType="image/png"/>
  <Override PartName="/ppt/media/image233.png" ContentType="image/png"/>
  <Override PartName="/ppt/media/image234.png" ContentType="image/png"/>
  <Override PartName="/ppt/media/image235.png" ContentType="image/png"/>
  <Override PartName="/ppt/media/image236.png" ContentType="image/png"/>
  <Override PartName="/ppt/media/image237.png" ContentType="image/png"/>
  <Override PartName="/ppt/media/image238.png" ContentType="image/png"/>
  <Override PartName="/ppt/media/image239.png" ContentType="image/png"/>
  <Override PartName="/ppt/media/image240.png" ContentType="image/png"/>
  <Override PartName="/ppt/media/image241.png" ContentType="image/png"/>
  <Override PartName="/ppt/media/image242.png" ContentType="image/png"/>
  <Override PartName="/ppt/media/image243.png" ContentType="image/png"/>
  <Override PartName="/ppt/media/image244.png" ContentType="image/png"/>
  <Override PartName="/ppt/media/image245.png" ContentType="image/png"/>
  <Override PartName="/ppt/media/image246.png" ContentType="image/png"/>
  <Override PartName="/ppt/media/image247.png" ContentType="image/png"/>
  <Override PartName="/ppt/media/image248.png" ContentType="image/png"/>
  <Override PartName="/ppt/media/image249.png" ContentType="image/png"/>
  <Override PartName="/ppt/media/image250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54A8A02-B5A8-4F1C-B9F4-8F31A947D83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979BCE-47CB-4DDE-BB95-BCE7AA77BA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2447A6-27DB-4F32-B6F7-DD95B5C187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D9B72-9D02-4D06-8867-B6267F94E6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2082EF-E483-4EFD-815E-02FDAB1833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2B727C-0AAC-4D16-BF27-AC33D66DF6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6CC86E-9AE4-47F2-B406-7E5AB42B2E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4A5DB2-54B2-4AC8-B742-10ABA18F84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0A5156-D968-45DA-BF36-8C201D5392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776203-5ABE-4BDC-A5F7-99BF533288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253391-26BB-4D16-B292-721FCC8972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32BE65-99B1-4921-A5C1-F0A63C8AE8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6BC408-0E4D-42ED-8BA7-C64C968956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6BBF9D-69A6-4D0B-B95F-1A5E7317F6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1B0101-FFA6-430A-BF97-0127746632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DEA9C3-744D-49FC-8D81-ADC744973C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C2E32C-061E-4731-BF83-2AB49FA7AA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9E153D-95E8-432F-B22D-8018A28598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2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2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8.png"/><Relationship Id="rId10" Type="http://schemas.openxmlformats.org/officeDocument/2006/relationships/image" Target="../media/image45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1.png"/><Relationship Id="rId15" Type="http://schemas.openxmlformats.org/officeDocument/2006/relationships/image" Target="../media/image45.png"/><Relationship Id="rId16" Type="http://schemas.openxmlformats.org/officeDocument/2006/relationships/image" Target="../media/image52.png"/><Relationship Id="rId17" Type="http://schemas.openxmlformats.org/officeDocument/2006/relationships/image" Target="../media/image53.png"/><Relationship Id="rId18" Type="http://schemas.openxmlformats.org/officeDocument/2006/relationships/image" Target="../media/image54.png"/><Relationship Id="rId19" Type="http://schemas.openxmlformats.org/officeDocument/2006/relationships/image" Target="../media/image54.png"/><Relationship Id="rId20" Type="http://schemas.openxmlformats.org/officeDocument/2006/relationships/image" Target="../media/image55.png"/><Relationship Id="rId21" Type="http://schemas.openxmlformats.org/officeDocument/2006/relationships/image" Target="../media/image56.png"/><Relationship Id="rId22" Type="http://schemas.openxmlformats.org/officeDocument/2006/relationships/image" Target="../media/image57.png"/><Relationship Id="rId23" Type="http://schemas.openxmlformats.org/officeDocument/2006/relationships/image" Target="../media/image58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61.png"/><Relationship Id="rId10" Type="http://schemas.openxmlformats.org/officeDocument/2006/relationships/image" Target="../media/image63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4.png"/><Relationship Id="rId18" Type="http://schemas.openxmlformats.org/officeDocument/2006/relationships/image" Target="../media/image64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8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4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74.png"/><Relationship Id="rId17" Type="http://schemas.openxmlformats.org/officeDocument/2006/relationships/image" Target="../media/image78.png"/><Relationship Id="rId18" Type="http://schemas.openxmlformats.org/officeDocument/2006/relationships/image" Target="../media/image81.png"/><Relationship Id="rId19" Type="http://schemas.openxmlformats.org/officeDocument/2006/relationships/image" Target="../media/image82.png"/><Relationship Id="rId20" Type="http://schemas.openxmlformats.org/officeDocument/2006/relationships/image" Target="../media/image74.png"/><Relationship Id="rId21" Type="http://schemas.openxmlformats.org/officeDocument/2006/relationships/image" Target="../media/image75.png"/><Relationship Id="rId22" Type="http://schemas.openxmlformats.org/officeDocument/2006/relationships/image" Target="../media/image83.png"/><Relationship Id="rId23" Type="http://schemas.openxmlformats.org/officeDocument/2006/relationships/image" Target="../media/image84.png"/><Relationship Id="rId24" Type="http://schemas.openxmlformats.org/officeDocument/2006/relationships/image" Target="../media/image85.png"/><Relationship Id="rId25" Type="http://schemas.openxmlformats.org/officeDocument/2006/relationships/image" Target="../media/image86.png"/><Relationship Id="rId26" Type="http://schemas.openxmlformats.org/officeDocument/2006/relationships/image" Target="../media/image77.png"/><Relationship Id="rId27" Type="http://schemas.openxmlformats.org/officeDocument/2006/relationships/image" Target="../media/image87.png"/><Relationship Id="rId28" Type="http://schemas.openxmlformats.org/officeDocument/2006/relationships/image" Target="../media/image88.png"/><Relationship Id="rId29" Type="http://schemas.openxmlformats.org/officeDocument/2006/relationships/image" Target="../media/image80.png"/><Relationship Id="rId30" Type="http://schemas.openxmlformats.org/officeDocument/2006/relationships/image" Target="../media/image89.png"/><Relationship Id="rId31" Type="http://schemas.openxmlformats.org/officeDocument/2006/relationships/image" Target="../media/image90.png"/><Relationship Id="rId32" Type="http://schemas.openxmlformats.org/officeDocument/2006/relationships/image" Target="../media/image91.png"/><Relationship Id="rId33" Type="http://schemas.openxmlformats.org/officeDocument/2006/relationships/image" Target="../media/image92.png"/><Relationship Id="rId34" Type="http://schemas.openxmlformats.org/officeDocument/2006/relationships/image" Target="../media/image93.png"/><Relationship Id="rId35" Type="http://schemas.openxmlformats.org/officeDocument/2006/relationships/image" Target="../media/image94.png"/><Relationship Id="rId36" Type="http://schemas.openxmlformats.org/officeDocument/2006/relationships/image" Target="../media/image95.png"/><Relationship Id="rId37" Type="http://schemas.openxmlformats.org/officeDocument/2006/relationships/image" Target="../media/image42.pn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07.png"/><Relationship Id="rId15" Type="http://schemas.openxmlformats.org/officeDocument/2006/relationships/image" Target="../media/image108.png"/><Relationship Id="rId16" Type="http://schemas.openxmlformats.org/officeDocument/2006/relationships/image" Target="../media/image109.png"/><Relationship Id="rId17" Type="http://schemas.openxmlformats.org/officeDocument/2006/relationships/image" Target="../media/image98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115.png"/><Relationship Id="rId24" Type="http://schemas.openxmlformats.org/officeDocument/2006/relationships/image" Target="../media/image116.png"/><Relationship Id="rId25" Type="http://schemas.openxmlformats.org/officeDocument/2006/relationships/image" Target="../media/image117.png"/><Relationship Id="rId26" Type="http://schemas.openxmlformats.org/officeDocument/2006/relationships/image" Target="../media/image118.png"/><Relationship Id="rId27" Type="http://schemas.openxmlformats.org/officeDocument/2006/relationships/image" Target="../media/image119.png"/><Relationship Id="rId28" Type="http://schemas.openxmlformats.org/officeDocument/2006/relationships/image" Target="../media/image42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Relationship Id="rId9" Type="http://schemas.openxmlformats.org/officeDocument/2006/relationships/image" Target="../media/image125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2" Type="http://schemas.openxmlformats.org/officeDocument/2006/relationships/image" Target="../media/image127.png"/><Relationship Id="rId13" Type="http://schemas.openxmlformats.org/officeDocument/2006/relationships/image" Target="../media/image128.png"/><Relationship Id="rId14" Type="http://schemas.openxmlformats.org/officeDocument/2006/relationships/image" Target="../media/image129.png"/><Relationship Id="rId15" Type="http://schemas.openxmlformats.org/officeDocument/2006/relationships/image" Target="../media/image130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25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Relationship Id="rId8" Type="http://schemas.openxmlformats.org/officeDocument/2006/relationships/image" Target="../media/image135.png"/><Relationship Id="rId9" Type="http://schemas.openxmlformats.org/officeDocument/2006/relationships/image" Target="../media/image136.png"/><Relationship Id="rId10" Type="http://schemas.openxmlformats.org/officeDocument/2006/relationships/image" Target="../media/image137.png"/><Relationship Id="rId11" Type="http://schemas.openxmlformats.org/officeDocument/2006/relationships/image" Target="../media/image138.png"/><Relationship Id="rId12" Type="http://schemas.openxmlformats.org/officeDocument/2006/relationships/image" Target="../media/image139.png"/><Relationship Id="rId13" Type="http://schemas.openxmlformats.org/officeDocument/2006/relationships/image" Target="../media/image140.png"/><Relationship Id="rId14" Type="http://schemas.openxmlformats.org/officeDocument/2006/relationships/image" Target="../media/image141.png"/><Relationship Id="rId15" Type="http://schemas.openxmlformats.org/officeDocument/2006/relationships/image" Target="../media/image142.png"/><Relationship Id="rId16" Type="http://schemas.openxmlformats.org/officeDocument/2006/relationships/image" Target="../media/image143.png"/><Relationship Id="rId17" Type="http://schemas.openxmlformats.org/officeDocument/2006/relationships/image" Target="../media/image144.png"/><Relationship Id="rId18" Type="http://schemas.openxmlformats.org/officeDocument/2006/relationships/image" Target="../media/image145.png"/><Relationship Id="rId19" Type="http://schemas.openxmlformats.org/officeDocument/2006/relationships/image" Target="../media/image146.png"/><Relationship Id="rId20" Type="http://schemas.openxmlformats.org/officeDocument/2006/relationships/image" Target="../media/image147.png"/><Relationship Id="rId21" Type="http://schemas.openxmlformats.org/officeDocument/2006/relationships/image" Target="../media/image148.png"/><Relationship Id="rId22" Type="http://schemas.openxmlformats.org/officeDocument/2006/relationships/image" Target="../media/image149.png"/><Relationship Id="rId23" Type="http://schemas.openxmlformats.org/officeDocument/2006/relationships/image" Target="../media/image150.png"/><Relationship Id="rId24" Type="http://schemas.openxmlformats.org/officeDocument/2006/relationships/image" Target="../media/image151.png"/><Relationship Id="rId25" Type="http://schemas.openxmlformats.org/officeDocument/2006/relationships/image" Target="../media/image152.png"/><Relationship Id="rId26" Type="http://schemas.openxmlformats.org/officeDocument/2006/relationships/image" Target="../media/image153.png"/><Relationship Id="rId27" Type="http://schemas.openxmlformats.org/officeDocument/2006/relationships/image" Target="../media/image154.png"/><Relationship Id="rId28" Type="http://schemas.openxmlformats.org/officeDocument/2006/relationships/image" Target="../media/image155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156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Relationship Id="rId7" Type="http://schemas.openxmlformats.org/officeDocument/2006/relationships/image" Target="../media/image160.png"/><Relationship Id="rId8" Type="http://schemas.openxmlformats.org/officeDocument/2006/relationships/image" Target="../media/image161.png"/><Relationship Id="rId9" Type="http://schemas.openxmlformats.org/officeDocument/2006/relationships/image" Target="../media/image162.png"/><Relationship Id="rId10" Type="http://schemas.openxmlformats.org/officeDocument/2006/relationships/image" Target="../media/image163.png"/><Relationship Id="rId11" Type="http://schemas.openxmlformats.org/officeDocument/2006/relationships/image" Target="../media/image164.png"/><Relationship Id="rId12" Type="http://schemas.openxmlformats.org/officeDocument/2006/relationships/image" Target="../media/image165.png"/><Relationship Id="rId13" Type="http://schemas.openxmlformats.org/officeDocument/2006/relationships/image" Target="../media/image166.png"/><Relationship Id="rId14" Type="http://schemas.openxmlformats.org/officeDocument/2006/relationships/image" Target="../media/image167.png"/><Relationship Id="rId15" Type="http://schemas.openxmlformats.org/officeDocument/2006/relationships/image" Target="../media/image168.png"/><Relationship Id="rId16" Type="http://schemas.openxmlformats.org/officeDocument/2006/relationships/image" Target="../media/image169.png"/><Relationship Id="rId17" Type="http://schemas.openxmlformats.org/officeDocument/2006/relationships/image" Target="../media/image15.png"/><Relationship Id="rId18" Type="http://schemas.openxmlformats.org/officeDocument/2006/relationships/image" Target="../media/image170.png"/><Relationship Id="rId19" Type="http://schemas.openxmlformats.org/officeDocument/2006/relationships/image" Target="../media/image171.png"/><Relationship Id="rId20" Type="http://schemas.openxmlformats.org/officeDocument/2006/relationships/image" Target="../media/image172.png"/><Relationship Id="rId21" Type="http://schemas.openxmlformats.org/officeDocument/2006/relationships/image" Target="../media/image173.png"/><Relationship Id="rId22" Type="http://schemas.openxmlformats.org/officeDocument/2006/relationships/image" Target="../media/image174.png"/><Relationship Id="rId23" Type="http://schemas.openxmlformats.org/officeDocument/2006/relationships/image" Target="../media/image175.png"/><Relationship Id="rId24" Type="http://schemas.openxmlformats.org/officeDocument/2006/relationships/image" Target="../media/image176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7.png"/><Relationship Id="rId15" Type="http://schemas.openxmlformats.org/officeDocument/2006/relationships/image" Target="../media/image187.png"/><Relationship Id="rId16" Type="http://schemas.openxmlformats.org/officeDocument/2006/relationships/image" Target="../media/image188.png"/><Relationship Id="rId17" Type="http://schemas.openxmlformats.org/officeDocument/2006/relationships/image" Target="../media/image189.png"/><Relationship Id="rId18" Type="http://schemas.openxmlformats.org/officeDocument/2006/relationships/image" Target="../media/image190.png"/><Relationship Id="rId19" Type="http://schemas.openxmlformats.org/officeDocument/2006/relationships/image" Target="../media/image191.png"/><Relationship Id="rId20" Type="http://schemas.openxmlformats.org/officeDocument/2006/relationships/image" Target="../media/image191.png"/><Relationship Id="rId21" Type="http://schemas.openxmlformats.org/officeDocument/2006/relationships/image" Target="../media/image191.png"/><Relationship Id="rId22" Type="http://schemas.openxmlformats.org/officeDocument/2006/relationships/image" Target="../media/image192.png"/><Relationship Id="rId23" Type="http://schemas.openxmlformats.org/officeDocument/2006/relationships/image" Target="../media/image193.png"/><Relationship Id="rId24" Type="http://schemas.openxmlformats.org/officeDocument/2006/relationships/image" Target="../media/image194.png"/><Relationship Id="rId25" Type="http://schemas.openxmlformats.org/officeDocument/2006/relationships/image" Target="../media/image195.png"/><Relationship Id="rId26" Type="http://schemas.openxmlformats.org/officeDocument/2006/relationships/image" Target="../media/image195.png"/><Relationship Id="rId27" Type="http://schemas.openxmlformats.org/officeDocument/2006/relationships/image" Target="../media/image195.png"/><Relationship Id="rId28" Type="http://schemas.openxmlformats.org/officeDocument/2006/relationships/image" Target="../media/image196.png"/><Relationship Id="rId29" Type="http://schemas.openxmlformats.org/officeDocument/2006/relationships/image" Target="../media/image197.png"/><Relationship Id="rId30" Type="http://schemas.openxmlformats.org/officeDocument/2006/relationships/image" Target="../media/image198.png"/><Relationship Id="rId31" Type="http://schemas.openxmlformats.org/officeDocument/2006/relationships/image" Target="../media/image199.png"/><Relationship Id="rId32" Type="http://schemas.openxmlformats.org/officeDocument/2006/relationships/image" Target="../media/image199.png"/><Relationship Id="rId33" Type="http://schemas.openxmlformats.org/officeDocument/2006/relationships/image" Target="../media/image199.png"/><Relationship Id="rId34" Type="http://schemas.openxmlformats.org/officeDocument/2006/relationships/image" Target="../media/image200.png"/><Relationship Id="rId35" Type="http://schemas.openxmlformats.org/officeDocument/2006/relationships/image" Target="../media/image201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Relationship Id="rId6" Type="http://schemas.openxmlformats.org/officeDocument/2006/relationships/image" Target="../media/image203.png"/><Relationship Id="rId7" Type="http://schemas.openxmlformats.org/officeDocument/2006/relationships/image" Target="../media/image205.png"/><Relationship Id="rId8" Type="http://schemas.openxmlformats.org/officeDocument/2006/relationships/image" Target="../media/image203.png"/><Relationship Id="rId9" Type="http://schemas.openxmlformats.org/officeDocument/2006/relationships/image" Target="../media/image206.png"/><Relationship Id="rId10" Type="http://schemas.openxmlformats.org/officeDocument/2006/relationships/image" Target="../media/image207.png"/><Relationship Id="rId11" Type="http://schemas.openxmlformats.org/officeDocument/2006/relationships/image" Target="../media/image202.png"/><Relationship Id="rId12" Type="http://schemas.openxmlformats.org/officeDocument/2006/relationships/image" Target="../media/image208.png"/><Relationship Id="rId13" Type="http://schemas.openxmlformats.org/officeDocument/2006/relationships/image" Target="../media/image209.png"/><Relationship Id="rId14" Type="http://schemas.openxmlformats.org/officeDocument/2006/relationships/image" Target="../media/image210.png"/><Relationship Id="rId15" Type="http://schemas.openxmlformats.org/officeDocument/2006/relationships/image" Target="../media/image211.png"/><Relationship Id="rId16" Type="http://schemas.openxmlformats.org/officeDocument/2006/relationships/image" Target="../media/image212.png"/><Relationship Id="rId17" Type="http://schemas.openxmlformats.org/officeDocument/2006/relationships/image" Target="../media/image213.png"/><Relationship Id="rId18" Type="http://schemas.openxmlformats.org/officeDocument/2006/relationships/image" Target="../media/image214.png"/><Relationship Id="rId19" Type="http://schemas.openxmlformats.org/officeDocument/2006/relationships/image" Target="../media/image215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216.png"/><Relationship Id="rId4" Type="http://schemas.openxmlformats.org/officeDocument/2006/relationships/image" Target="../media/image125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Relationship Id="rId12" Type="http://schemas.openxmlformats.org/officeDocument/2006/relationships/image" Target="../media/image224.png"/><Relationship Id="rId13" Type="http://schemas.openxmlformats.org/officeDocument/2006/relationships/image" Target="../media/image225.png"/><Relationship Id="rId14" Type="http://schemas.openxmlformats.org/officeDocument/2006/relationships/image" Target="../media/image51.png"/><Relationship Id="rId15" Type="http://schemas.openxmlformats.org/officeDocument/2006/relationships/image" Target="../media/image68.png"/><Relationship Id="rId16" Type="http://schemas.openxmlformats.org/officeDocument/2006/relationships/image" Target="../media/image54.png"/><Relationship Id="rId17" Type="http://schemas.openxmlformats.org/officeDocument/2006/relationships/image" Target="../media/image226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227.png"/><Relationship Id="rId4" Type="http://schemas.openxmlformats.org/officeDocument/2006/relationships/image" Target="../media/image228.png"/><Relationship Id="rId5" Type="http://schemas.openxmlformats.org/officeDocument/2006/relationships/image" Target="../media/image229.png"/><Relationship Id="rId6" Type="http://schemas.openxmlformats.org/officeDocument/2006/relationships/image" Target="../media/image230.png"/><Relationship Id="rId7" Type="http://schemas.openxmlformats.org/officeDocument/2006/relationships/image" Target="../media/image228.png"/><Relationship Id="rId8" Type="http://schemas.openxmlformats.org/officeDocument/2006/relationships/image" Target="../media/image231.png"/><Relationship Id="rId9" Type="http://schemas.openxmlformats.org/officeDocument/2006/relationships/image" Target="../media/image232.png"/><Relationship Id="rId10" Type="http://schemas.openxmlformats.org/officeDocument/2006/relationships/image" Target="../media/image233.png"/><Relationship Id="rId11" Type="http://schemas.openxmlformats.org/officeDocument/2006/relationships/image" Target="../media/image234.png"/><Relationship Id="rId12" Type="http://schemas.openxmlformats.org/officeDocument/2006/relationships/image" Target="../media/image235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236.png"/><Relationship Id="rId4" Type="http://schemas.openxmlformats.org/officeDocument/2006/relationships/image" Target="../media/image237.png"/><Relationship Id="rId5" Type="http://schemas.openxmlformats.org/officeDocument/2006/relationships/image" Target="../media/image238.png"/><Relationship Id="rId6" Type="http://schemas.openxmlformats.org/officeDocument/2006/relationships/image" Target="../media/image236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36.png"/><Relationship Id="rId10" Type="http://schemas.openxmlformats.org/officeDocument/2006/relationships/image" Target="../media/image241.png"/><Relationship Id="rId11" Type="http://schemas.openxmlformats.org/officeDocument/2006/relationships/image" Target="../media/image242.png"/><Relationship Id="rId12" Type="http://schemas.openxmlformats.org/officeDocument/2006/relationships/image" Target="../media/image223.png"/><Relationship Id="rId13" Type="http://schemas.openxmlformats.org/officeDocument/2006/relationships/image" Target="../media/image243.png"/><Relationship Id="rId14" Type="http://schemas.openxmlformats.org/officeDocument/2006/relationships/image" Target="../media/image244.png"/><Relationship Id="rId15" Type="http://schemas.openxmlformats.org/officeDocument/2006/relationships/image" Target="../media/image245.png"/><Relationship Id="rId16" Type="http://schemas.openxmlformats.org/officeDocument/2006/relationships/image" Target="../media/image245.png"/><Relationship Id="rId17" Type="http://schemas.openxmlformats.org/officeDocument/2006/relationships/image" Target="../media/image245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246.png"/><Relationship Id="rId4" Type="http://schemas.openxmlformats.org/officeDocument/2006/relationships/image" Target="../media/image247.png"/><Relationship Id="rId5" Type="http://schemas.openxmlformats.org/officeDocument/2006/relationships/image" Target="../media/image248.png"/><Relationship Id="rId6" Type="http://schemas.openxmlformats.org/officeDocument/2006/relationships/image" Target="../media/image249.png"/><Relationship Id="rId7" Type="http://schemas.openxmlformats.org/officeDocument/2006/relationships/image" Target="../media/image249.png"/><Relationship Id="rId8" Type="http://schemas.openxmlformats.org/officeDocument/2006/relationships/image" Target="../media/image249.png"/><Relationship Id="rId9" Type="http://schemas.openxmlformats.org/officeDocument/2006/relationships/image" Target="../media/image250.png"/><Relationship Id="rId10" Type="http://schemas.openxmlformats.org/officeDocument/2006/relationships/image" Target="../media/image251.png"/><Relationship Id="rId11" Type="http://schemas.openxmlformats.org/officeDocument/2006/relationships/image" Target="../media/image252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2.png"/><Relationship Id="rId3" Type="http://schemas.openxmlformats.org/officeDocument/2006/relationships/image" Target="../media/image253.png"/><Relationship Id="rId4" Type="http://schemas.openxmlformats.org/officeDocument/2006/relationships/image" Target="../media/image254.png"/><Relationship Id="rId5" Type="http://schemas.openxmlformats.org/officeDocument/2006/relationships/image" Target="../media/image255.png"/><Relationship Id="rId6" Type="http://schemas.openxmlformats.org/officeDocument/2006/relationships/image" Target="../media/image253.png"/><Relationship Id="rId7" Type="http://schemas.openxmlformats.org/officeDocument/2006/relationships/image" Target="../media/image256.png"/><Relationship Id="rId8" Type="http://schemas.openxmlformats.org/officeDocument/2006/relationships/image" Target="../media/image257.png"/><Relationship Id="rId9" Type="http://schemas.openxmlformats.org/officeDocument/2006/relationships/image" Target="../media/image253.png"/><Relationship Id="rId10" Type="http://schemas.openxmlformats.org/officeDocument/2006/relationships/image" Target="../media/image258.png"/><Relationship Id="rId11" Type="http://schemas.openxmlformats.org/officeDocument/2006/relationships/image" Target="../media/image259.png"/><Relationship Id="rId12" Type="http://schemas.openxmlformats.org/officeDocument/2006/relationships/image" Target="../media/image253.png"/><Relationship Id="rId13" Type="http://schemas.openxmlformats.org/officeDocument/2006/relationships/image" Target="../media/image260.png"/><Relationship Id="rId14" Type="http://schemas.openxmlformats.org/officeDocument/2006/relationships/image" Target="../media/image261.png"/><Relationship Id="rId15" Type="http://schemas.openxmlformats.org/officeDocument/2006/relationships/image" Target="../media/image262.png"/><Relationship Id="rId16" Type="http://schemas.openxmlformats.org/officeDocument/2006/relationships/image" Target="../media/image263.png"/><Relationship Id="rId17" Type="http://schemas.openxmlformats.org/officeDocument/2006/relationships/image" Target="../media/image26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2381040" cy="2381040"/>
          </a:xfrm>
          <a:prstGeom prst="rect">
            <a:avLst/>
          </a:prstGeom>
          <a:ln w="0">
            <a:noFill/>
          </a:ln>
        </p:spPr>
      </p:pic>
      <p:pic>
        <p:nvPicPr>
          <p:cNvPr id="10" name="Image 2" descr="preencoded.png"/>
          <p:cNvPicPr/>
          <p:nvPr/>
        </p:nvPicPr>
        <p:blipFill>
          <a:blip r:embed="rId3"/>
          <a:stretch/>
        </p:blipFill>
        <p:spPr>
          <a:xfrm>
            <a:off x="10763280" y="4000680"/>
            <a:ext cx="1428480" cy="1904760"/>
          </a:xfrm>
          <a:prstGeom prst="rect">
            <a:avLst/>
          </a:prstGeom>
          <a:ln w="0">
            <a:noFill/>
          </a:ln>
        </p:spPr>
      </p:pic>
      <p:pic>
        <p:nvPicPr>
          <p:cNvPr id="11" name="Image 3" descr="preencoded.png"/>
          <p:cNvPicPr/>
          <p:nvPr/>
        </p:nvPicPr>
        <p:blipFill>
          <a:blip r:embed="rId4"/>
          <a:stretch/>
        </p:blipFill>
        <p:spPr>
          <a:xfrm>
            <a:off x="3657600" y="5715000"/>
            <a:ext cx="1428480" cy="1428480"/>
          </a:xfrm>
          <a:prstGeom prst="rect">
            <a:avLst/>
          </a:prstGeom>
          <a:ln w="0">
            <a:noFill/>
          </a:ln>
        </p:spPr>
      </p:pic>
      <p:pic>
        <p:nvPicPr>
          <p:cNvPr id="12" name="Image 4" descr="preencoded.png"/>
          <p:cNvPicPr/>
          <p:nvPr/>
        </p:nvPicPr>
        <p:blipFill>
          <a:blip r:embed="rId5"/>
          <a:stretch/>
        </p:blipFill>
        <p:spPr>
          <a:xfrm>
            <a:off x="10020240" y="1371600"/>
            <a:ext cx="952200" cy="952200"/>
          </a:xfrm>
          <a:prstGeom prst="rect">
            <a:avLst/>
          </a:prstGeom>
          <a:ln w="0">
            <a:noFill/>
          </a:ln>
        </p:spPr>
      </p:pic>
      <p:pic>
        <p:nvPicPr>
          <p:cNvPr id="13" name="Image 5" descr="preencoded.png"/>
          <p:cNvPicPr/>
          <p:nvPr/>
        </p:nvPicPr>
        <p:blipFill>
          <a:blip r:embed="rId6"/>
          <a:stretch/>
        </p:blipFill>
        <p:spPr>
          <a:xfrm>
            <a:off x="5638680" y="3029040"/>
            <a:ext cx="914040" cy="37800"/>
          </a:xfrm>
          <a:prstGeom prst="rect">
            <a:avLst/>
          </a:prstGeom>
          <a:ln w="0">
            <a:noFill/>
          </a:ln>
        </p:spPr>
      </p:pic>
      <p:pic>
        <p:nvPicPr>
          <p:cNvPr id="14" name="Image 6" descr="preencoded.png"/>
          <p:cNvPicPr/>
          <p:nvPr/>
        </p:nvPicPr>
        <p:blipFill>
          <a:blip r:embed="rId7"/>
          <a:stretch/>
        </p:blipFill>
        <p:spPr>
          <a:xfrm>
            <a:off x="5315040" y="4896000"/>
            <a:ext cx="609120" cy="37800"/>
          </a:xfrm>
          <a:prstGeom prst="rect">
            <a:avLst/>
          </a:prstGeom>
          <a:ln w="0">
            <a:noFill/>
          </a:ln>
        </p:spPr>
      </p:pic>
      <p:pic>
        <p:nvPicPr>
          <p:cNvPr id="15" name="Image 7" descr="preencoded.png"/>
          <p:cNvPicPr/>
          <p:nvPr/>
        </p:nvPicPr>
        <p:blipFill>
          <a:blip r:embed="rId8"/>
          <a:stretch/>
        </p:blipFill>
        <p:spPr>
          <a:xfrm>
            <a:off x="6039000" y="4857840"/>
            <a:ext cx="114120" cy="114120"/>
          </a:xfrm>
          <a:prstGeom prst="rect">
            <a:avLst/>
          </a:prstGeom>
          <a:ln w="0">
            <a:noFill/>
          </a:ln>
        </p:spPr>
      </p:pic>
      <p:pic>
        <p:nvPicPr>
          <p:cNvPr id="16" name="Image 8" descr="preencoded.png"/>
          <p:cNvPicPr/>
          <p:nvPr/>
        </p:nvPicPr>
        <p:blipFill>
          <a:blip r:embed="rId9"/>
          <a:stretch/>
        </p:blipFill>
        <p:spPr>
          <a:xfrm>
            <a:off x="6267600" y="4896000"/>
            <a:ext cx="609120" cy="37800"/>
          </a:xfrm>
          <a:prstGeom prst="rect">
            <a:avLst/>
          </a:prstGeom>
          <a:ln w="0">
            <a:noFill/>
          </a:ln>
        </p:spPr>
      </p:pic>
      <p:pic>
        <p:nvPicPr>
          <p:cNvPr id="17" name="Image 9" descr="preencoded.png"/>
          <p:cNvPicPr/>
          <p:nvPr/>
        </p:nvPicPr>
        <p:blipFill>
          <a:blip r:embed="rId10"/>
          <a:stretch/>
        </p:blipFill>
        <p:spPr>
          <a:xfrm>
            <a:off x="0" y="6553080"/>
            <a:ext cx="12191760" cy="304560"/>
          </a:xfrm>
          <a:prstGeom prst="rect">
            <a:avLst/>
          </a:prstGeom>
          <a:ln w="0">
            <a:noFill/>
          </a:ln>
        </p:spPr>
      </p:pic>
      <p:sp>
        <p:nvSpPr>
          <p:cNvPr id="18" name="Text 0"/>
          <p:cNvSpPr/>
          <p:nvPr/>
        </p:nvSpPr>
        <p:spPr>
          <a:xfrm>
            <a:off x="1219320" y="1028880"/>
            <a:ext cx="110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4caf50"/>
                </a:solidFill>
                <a:latin typeface="Arial"/>
                <a:ea typeface="Arial"/>
              </a:rPr>
              <a:t>[[ ]]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9812520" y="4114800"/>
            <a:ext cx="66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4caf50"/>
                </a:solidFill>
                <a:latin typeface="Arial"/>
                <a:ea typeface="Arial"/>
              </a:rPr>
              <a:t>{ 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2438280" y="5029200"/>
            <a:ext cx="110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4caf50"/>
                </a:solidFill>
                <a:latin typeface="Arial"/>
                <a:ea typeface="Arial"/>
              </a:rPr>
              <a:t>def()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7433280" y="2057400"/>
            <a:ext cx="132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4caf50"/>
                </a:solidFill>
                <a:latin typeface="Arial"/>
                <a:ea typeface="Arial"/>
              </a:rPr>
              <a:t>import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2057400" y="1485720"/>
            <a:ext cx="779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pc="-72" strike="noStrike">
                <a:solidFill>
                  <a:srgbClr val="1f2937"/>
                </a:solidFill>
                <a:latin typeface="ui-sans-serif"/>
                <a:ea typeface="ui-sans-serif"/>
              </a:rPr>
              <a:t>Data Analysis with Python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2233800" y="3371760"/>
            <a:ext cx="7723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Team Project: Diabetes Health Indicator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2895480" y="4019400"/>
            <a:ext cx="6400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Exploring patterns and interactions between demographic, physiological, and lifestyle factors in diabetes prevalence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4087800" y="5600880"/>
            <a:ext cx="4015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Presented by: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3686400" y="5943600"/>
            <a:ext cx="4818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f2937"/>
                </a:solidFill>
                <a:latin typeface="ui-sans-serif"/>
                <a:ea typeface="ui-sans-serif"/>
              </a:rPr>
              <a:t>MISS OTEMA &amp; MISS KWEYAKIE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972120"/>
          </a:xfrm>
          <a:prstGeom prst="rect">
            <a:avLst/>
          </a:prstGeom>
          <a:ln w="0">
            <a:noFill/>
          </a:ln>
        </p:spPr>
      </p:pic>
      <p:pic>
        <p:nvPicPr>
          <p:cNvPr id="28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29" name="Image 2" descr="preencoded.png"/>
          <p:cNvPicPr/>
          <p:nvPr/>
        </p:nvPicPr>
        <p:blipFill>
          <a:blip r:embed="rId3"/>
          <a:stretch/>
        </p:blipFill>
        <p:spPr>
          <a:xfrm>
            <a:off x="380880" y="1238400"/>
            <a:ext cx="5486040" cy="3085920"/>
          </a:xfrm>
          <a:prstGeom prst="rect">
            <a:avLst/>
          </a:prstGeom>
          <a:ln w="0">
            <a:noFill/>
          </a:ln>
        </p:spPr>
      </p:pic>
      <p:pic>
        <p:nvPicPr>
          <p:cNvPr id="30" name="Image 3" descr="preencoded.png"/>
          <p:cNvPicPr/>
          <p:nvPr/>
        </p:nvPicPr>
        <p:blipFill>
          <a:blip r:embed="rId4"/>
          <a:stretch/>
        </p:blipFill>
        <p:spPr>
          <a:xfrm>
            <a:off x="609480" y="1981080"/>
            <a:ext cx="132840" cy="190080"/>
          </a:xfrm>
          <a:prstGeom prst="rect">
            <a:avLst/>
          </a:prstGeom>
          <a:ln w="0">
            <a:noFill/>
          </a:ln>
        </p:spPr>
      </p:pic>
      <p:pic>
        <p:nvPicPr>
          <p:cNvPr id="31" name="Image 4" descr="preencoded.png"/>
          <p:cNvPicPr/>
          <p:nvPr/>
        </p:nvPicPr>
        <p:blipFill>
          <a:blip r:embed="rId5"/>
          <a:stretch/>
        </p:blipFill>
        <p:spPr>
          <a:xfrm>
            <a:off x="609480" y="2666880"/>
            <a:ext cx="132840" cy="190080"/>
          </a:xfrm>
          <a:prstGeom prst="rect">
            <a:avLst/>
          </a:prstGeom>
          <a:ln w="0">
            <a:noFill/>
          </a:ln>
        </p:spPr>
      </p:pic>
      <p:pic>
        <p:nvPicPr>
          <p:cNvPr id="32" name="Image 5" descr="preencoded.png"/>
          <p:cNvPicPr/>
          <p:nvPr/>
        </p:nvPicPr>
        <p:blipFill>
          <a:blip r:embed="rId6"/>
          <a:stretch/>
        </p:blipFill>
        <p:spPr>
          <a:xfrm>
            <a:off x="609480" y="3619440"/>
            <a:ext cx="132840" cy="190080"/>
          </a:xfrm>
          <a:prstGeom prst="rect">
            <a:avLst/>
          </a:prstGeom>
          <a:ln w="0">
            <a:noFill/>
          </a:ln>
        </p:spPr>
      </p:pic>
      <p:pic>
        <p:nvPicPr>
          <p:cNvPr id="33" name="Image 6" descr="preencoded.png"/>
          <p:cNvPicPr/>
          <p:nvPr/>
        </p:nvPicPr>
        <p:blipFill>
          <a:blip r:embed="rId7"/>
          <a:stretch/>
        </p:blipFill>
        <p:spPr>
          <a:xfrm>
            <a:off x="380880" y="4552920"/>
            <a:ext cx="5486040" cy="2133360"/>
          </a:xfrm>
          <a:prstGeom prst="rect">
            <a:avLst/>
          </a:prstGeom>
          <a:ln w="0">
            <a:noFill/>
          </a:ln>
        </p:spPr>
      </p:pic>
      <p:pic>
        <p:nvPicPr>
          <p:cNvPr id="34" name="Image 7" descr="preencoded.png"/>
          <p:cNvPicPr/>
          <p:nvPr/>
        </p:nvPicPr>
        <p:blipFill>
          <a:blip r:embed="rId8"/>
          <a:stretch/>
        </p:blipFill>
        <p:spPr>
          <a:xfrm>
            <a:off x="609480" y="5295960"/>
            <a:ext cx="132840" cy="171000"/>
          </a:xfrm>
          <a:prstGeom prst="rect">
            <a:avLst/>
          </a:prstGeom>
          <a:ln w="0">
            <a:noFill/>
          </a:ln>
        </p:spPr>
      </p:pic>
      <p:pic>
        <p:nvPicPr>
          <p:cNvPr id="35" name="Image 8" descr="preencoded.png"/>
          <p:cNvPicPr/>
          <p:nvPr/>
        </p:nvPicPr>
        <p:blipFill>
          <a:blip r:embed="rId9"/>
          <a:stretch/>
        </p:blipFill>
        <p:spPr>
          <a:xfrm>
            <a:off x="609480" y="598176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36" name="Image 9" descr="preencoded.png"/>
          <p:cNvPicPr/>
          <p:nvPr/>
        </p:nvPicPr>
        <p:blipFill>
          <a:blip r:embed="rId10"/>
          <a:stretch/>
        </p:blipFill>
        <p:spPr>
          <a:xfrm>
            <a:off x="6324480" y="1238400"/>
            <a:ext cx="5486040" cy="5676480"/>
          </a:xfrm>
          <a:prstGeom prst="rect">
            <a:avLst/>
          </a:prstGeom>
          <a:ln w="0">
            <a:noFill/>
          </a:ln>
        </p:spPr>
      </p:pic>
      <p:pic>
        <p:nvPicPr>
          <p:cNvPr id="37" name="Image 10" descr="preencoded.png"/>
          <p:cNvPicPr/>
          <p:nvPr/>
        </p:nvPicPr>
        <p:blipFill>
          <a:blip r:embed="rId11"/>
          <a:stretch/>
        </p:blipFill>
        <p:spPr>
          <a:xfrm>
            <a:off x="6553080" y="2000160"/>
            <a:ext cx="2437920" cy="1599840"/>
          </a:xfrm>
          <a:prstGeom prst="rect">
            <a:avLst/>
          </a:prstGeom>
          <a:ln w="0">
            <a:noFill/>
          </a:ln>
        </p:spPr>
      </p:pic>
      <p:pic>
        <p:nvPicPr>
          <p:cNvPr id="38" name="Image 11" descr="preencoded.png"/>
          <p:cNvPicPr/>
          <p:nvPr/>
        </p:nvPicPr>
        <p:blipFill>
          <a:blip r:embed="rId12"/>
          <a:stretch/>
        </p:blipFill>
        <p:spPr>
          <a:xfrm>
            <a:off x="7620120" y="2152800"/>
            <a:ext cx="304560" cy="380520"/>
          </a:xfrm>
          <a:prstGeom prst="rect">
            <a:avLst/>
          </a:prstGeom>
          <a:ln w="0">
            <a:noFill/>
          </a:ln>
        </p:spPr>
      </p:pic>
      <p:pic>
        <p:nvPicPr>
          <p:cNvPr id="39" name="Image 12" descr="preencoded.png"/>
          <p:cNvPicPr/>
          <p:nvPr/>
        </p:nvPicPr>
        <p:blipFill>
          <a:blip r:embed="rId13"/>
          <a:stretch/>
        </p:blipFill>
        <p:spPr>
          <a:xfrm>
            <a:off x="9144000" y="2000160"/>
            <a:ext cx="2437920" cy="1599840"/>
          </a:xfrm>
          <a:prstGeom prst="rect">
            <a:avLst/>
          </a:prstGeom>
          <a:ln w="0">
            <a:noFill/>
          </a:ln>
        </p:spPr>
      </p:pic>
      <p:pic>
        <p:nvPicPr>
          <p:cNvPr id="40" name="Image 13" descr="preencoded.png"/>
          <p:cNvPicPr/>
          <p:nvPr/>
        </p:nvPicPr>
        <p:blipFill>
          <a:blip r:embed="rId14"/>
          <a:stretch/>
        </p:blipFill>
        <p:spPr>
          <a:xfrm>
            <a:off x="10210680" y="2152800"/>
            <a:ext cx="304560" cy="380520"/>
          </a:xfrm>
          <a:prstGeom prst="rect">
            <a:avLst/>
          </a:prstGeom>
          <a:ln w="0">
            <a:noFill/>
          </a:ln>
        </p:spPr>
      </p:pic>
      <p:pic>
        <p:nvPicPr>
          <p:cNvPr id="41" name="Image 14" descr="preencoded.png"/>
          <p:cNvPicPr/>
          <p:nvPr/>
        </p:nvPicPr>
        <p:blipFill>
          <a:blip r:embed="rId15"/>
          <a:stretch/>
        </p:blipFill>
        <p:spPr>
          <a:xfrm>
            <a:off x="6553080" y="3753000"/>
            <a:ext cx="2437920" cy="1599840"/>
          </a:xfrm>
          <a:prstGeom prst="rect">
            <a:avLst/>
          </a:prstGeom>
          <a:ln w="0">
            <a:noFill/>
          </a:ln>
        </p:spPr>
      </p:pic>
      <p:pic>
        <p:nvPicPr>
          <p:cNvPr id="42" name="Image 15" descr="preencoded.png"/>
          <p:cNvPicPr/>
          <p:nvPr/>
        </p:nvPicPr>
        <p:blipFill>
          <a:blip r:embed="rId16"/>
          <a:stretch/>
        </p:blipFill>
        <p:spPr>
          <a:xfrm>
            <a:off x="7601040" y="3905280"/>
            <a:ext cx="342720" cy="380520"/>
          </a:xfrm>
          <a:prstGeom prst="rect">
            <a:avLst/>
          </a:prstGeom>
          <a:ln w="0">
            <a:noFill/>
          </a:ln>
        </p:spPr>
      </p:pic>
      <p:pic>
        <p:nvPicPr>
          <p:cNvPr id="43" name="Image 16" descr="preencoded.png"/>
          <p:cNvPicPr/>
          <p:nvPr/>
        </p:nvPicPr>
        <p:blipFill>
          <a:blip r:embed="rId17"/>
          <a:stretch/>
        </p:blipFill>
        <p:spPr>
          <a:xfrm>
            <a:off x="9144000" y="3753000"/>
            <a:ext cx="2437920" cy="1599840"/>
          </a:xfrm>
          <a:prstGeom prst="rect">
            <a:avLst/>
          </a:prstGeom>
          <a:ln w="0">
            <a:noFill/>
          </a:ln>
        </p:spPr>
      </p:pic>
      <p:pic>
        <p:nvPicPr>
          <p:cNvPr id="44" name="Image 17" descr="preencoded.png"/>
          <p:cNvPicPr/>
          <p:nvPr/>
        </p:nvPicPr>
        <p:blipFill>
          <a:blip r:embed="rId18"/>
          <a:stretch/>
        </p:blipFill>
        <p:spPr>
          <a:xfrm>
            <a:off x="10148760" y="3905280"/>
            <a:ext cx="428400" cy="380520"/>
          </a:xfrm>
          <a:prstGeom prst="rect">
            <a:avLst/>
          </a:prstGeom>
          <a:ln w="0">
            <a:noFill/>
          </a:ln>
        </p:spPr>
      </p:pic>
      <p:pic>
        <p:nvPicPr>
          <p:cNvPr id="45" name="Image 18" descr="preencoded.png"/>
          <p:cNvPicPr/>
          <p:nvPr/>
        </p:nvPicPr>
        <p:blipFill>
          <a:blip r:embed="rId19"/>
          <a:stretch/>
        </p:blipFill>
        <p:spPr>
          <a:xfrm>
            <a:off x="6553080" y="5581800"/>
            <a:ext cx="5028840" cy="1104480"/>
          </a:xfrm>
          <a:prstGeom prst="rect">
            <a:avLst/>
          </a:prstGeom>
          <a:ln w="0">
            <a:noFill/>
          </a:ln>
        </p:spPr>
      </p:pic>
      <p:pic>
        <p:nvPicPr>
          <p:cNvPr id="46" name="Image 19" descr="preencoded.png"/>
          <p:cNvPicPr/>
          <p:nvPr/>
        </p:nvPicPr>
        <p:blipFill>
          <a:blip r:embed="rId20"/>
          <a:stretch/>
        </p:blipFill>
        <p:spPr>
          <a:xfrm>
            <a:off x="6739560" y="5762520"/>
            <a:ext cx="151920" cy="171000"/>
          </a:xfrm>
          <a:prstGeom prst="rect">
            <a:avLst/>
          </a:prstGeom>
          <a:ln w="0">
            <a:noFill/>
          </a:ln>
        </p:spPr>
      </p:pic>
      <p:pic>
        <p:nvPicPr>
          <p:cNvPr id="47" name="Image 20" descr="preencoded.png"/>
          <p:cNvPicPr/>
          <p:nvPr/>
        </p:nvPicPr>
        <p:blipFill>
          <a:blip r:embed="rId21"/>
          <a:stretch/>
        </p:blipFill>
        <p:spPr>
          <a:xfrm>
            <a:off x="10711080" y="6296040"/>
            <a:ext cx="161640" cy="171000"/>
          </a:xfrm>
          <a:prstGeom prst="rect">
            <a:avLst/>
          </a:prstGeom>
          <a:ln w="0">
            <a:noFill/>
          </a:ln>
        </p:spPr>
      </p:pic>
      <p:sp>
        <p:nvSpPr>
          <p:cNvPr id="48" name="Text 0"/>
          <p:cNvSpPr/>
          <p:nvPr/>
        </p:nvSpPr>
        <p:spPr>
          <a:xfrm>
            <a:off x="380880" y="237960"/>
            <a:ext cx="8201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Project Background and Motivation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609480" y="1467000"/>
            <a:ext cx="5028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Diabetes Overview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857160" y="1924200"/>
            <a:ext cx="4781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Chronic metabolic condition characterized by impaired glucose regulation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857160" y="2610000"/>
            <a:ext cx="478116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Long-term health complications including cardiovascular disease, kidney damage, and nerve dysfunction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857160" y="3562200"/>
            <a:ext cx="4781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Prevalence influenced by a combination of biological, behavioral, and environmental factors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609480" y="4781520"/>
            <a:ext cx="5028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Study Motivation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857160" y="5238720"/>
            <a:ext cx="47811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Increasing availability of large-scale health survey data enables population-level analysis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895320" y="5924520"/>
            <a:ext cx="47430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Focus on understanding complex, interacting patterns rather than isolating single explanatory factors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6553080" y="1467000"/>
            <a:ext cx="6034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Factors Influencing Diabetes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7207560" y="2647800"/>
            <a:ext cx="1129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Biological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6705720" y="299088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Genetic predisposition and biological factors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9743760" y="2647800"/>
            <a:ext cx="1238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Behavioral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9296280" y="299088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Lifestyle choices and health behaviors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6927840" y="4400640"/>
            <a:ext cx="1688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Environmental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6705720" y="474336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External factors and surroundings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9662040" y="4400640"/>
            <a:ext cx="1401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Interactions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9296280" y="474336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Complex relationships between factors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6705720" y="5734080"/>
            <a:ext cx="47239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 </a:t>
            </a: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This project applies data analysis techniques using Python to explore diabetes prevalence across a wide range of health and lifestyle indicators 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7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68" name="Image 2" descr="preencoded.png"/>
          <p:cNvPicPr/>
          <p:nvPr/>
        </p:nvPicPr>
        <p:blipFill>
          <a:blip r:embed="rId3"/>
          <a:stretch/>
        </p:blipFill>
        <p:spPr>
          <a:xfrm>
            <a:off x="380880" y="3686040"/>
            <a:ext cx="11429640" cy="37800"/>
          </a:xfrm>
          <a:prstGeom prst="rect">
            <a:avLst/>
          </a:prstGeom>
          <a:ln w="0">
            <a:noFill/>
          </a:ln>
        </p:spPr>
      </p:pic>
      <p:pic>
        <p:nvPicPr>
          <p:cNvPr id="69" name="Image 3" descr="preencoded.png"/>
          <p:cNvPicPr/>
          <p:nvPr/>
        </p:nvPicPr>
        <p:blipFill>
          <a:blip r:embed="rId4"/>
          <a:stretch/>
        </p:blipFill>
        <p:spPr>
          <a:xfrm>
            <a:off x="380880" y="1809720"/>
            <a:ext cx="5562360" cy="1761840"/>
          </a:xfrm>
          <a:prstGeom prst="rect">
            <a:avLst/>
          </a:prstGeom>
          <a:ln w="0">
            <a:noFill/>
          </a:ln>
        </p:spPr>
      </p:pic>
      <p:pic>
        <p:nvPicPr>
          <p:cNvPr id="70" name="Image 4" descr="preencoded.png"/>
          <p:cNvPicPr/>
          <p:nvPr/>
        </p:nvPicPr>
        <p:blipFill>
          <a:blip r:embed="rId5"/>
          <a:stretch/>
        </p:blipFill>
        <p:spPr>
          <a:xfrm>
            <a:off x="190440" y="161928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71" name="Image 5" descr="preencoded.png"/>
          <p:cNvPicPr/>
          <p:nvPr/>
        </p:nvPicPr>
        <p:blipFill>
          <a:blip r:embed="rId6"/>
          <a:stretch/>
        </p:blipFill>
        <p:spPr>
          <a:xfrm>
            <a:off x="609480" y="2114640"/>
            <a:ext cx="390240" cy="380520"/>
          </a:xfrm>
          <a:prstGeom prst="rect">
            <a:avLst/>
          </a:prstGeom>
          <a:ln w="0">
            <a:noFill/>
          </a:ln>
        </p:spPr>
      </p:pic>
      <p:pic>
        <p:nvPicPr>
          <p:cNvPr id="72" name="Image 6" descr="preencoded.png"/>
          <p:cNvPicPr/>
          <p:nvPr/>
        </p:nvPicPr>
        <p:blipFill>
          <a:blip r:embed="rId7"/>
          <a:stretch/>
        </p:blipFill>
        <p:spPr>
          <a:xfrm>
            <a:off x="6248520" y="1809720"/>
            <a:ext cx="5562360" cy="1761840"/>
          </a:xfrm>
          <a:prstGeom prst="rect">
            <a:avLst/>
          </a:prstGeom>
          <a:ln w="0">
            <a:noFill/>
          </a:ln>
        </p:spPr>
      </p:pic>
      <p:pic>
        <p:nvPicPr>
          <p:cNvPr id="73" name="Image 7" descr="preencoded.png"/>
          <p:cNvPicPr/>
          <p:nvPr/>
        </p:nvPicPr>
        <p:blipFill>
          <a:blip r:embed="rId8"/>
          <a:stretch/>
        </p:blipFill>
        <p:spPr>
          <a:xfrm>
            <a:off x="6058080" y="161928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74" name="Image 8" descr="preencoded.png"/>
          <p:cNvPicPr/>
          <p:nvPr/>
        </p:nvPicPr>
        <p:blipFill>
          <a:blip r:embed="rId9"/>
          <a:stretch/>
        </p:blipFill>
        <p:spPr>
          <a:xfrm>
            <a:off x="6477120" y="2114640"/>
            <a:ext cx="428400" cy="380520"/>
          </a:xfrm>
          <a:prstGeom prst="rect">
            <a:avLst/>
          </a:prstGeom>
          <a:ln w="0">
            <a:noFill/>
          </a:ln>
        </p:spPr>
      </p:pic>
      <p:pic>
        <p:nvPicPr>
          <p:cNvPr id="75" name="Image 9" descr="preencoded.png"/>
          <p:cNvPicPr/>
          <p:nvPr/>
        </p:nvPicPr>
        <p:blipFill>
          <a:blip r:embed="rId10"/>
          <a:stretch/>
        </p:blipFill>
        <p:spPr>
          <a:xfrm>
            <a:off x="380880" y="3876840"/>
            <a:ext cx="5562360" cy="1761840"/>
          </a:xfrm>
          <a:prstGeom prst="rect">
            <a:avLst/>
          </a:prstGeom>
          <a:ln w="0">
            <a:noFill/>
          </a:ln>
        </p:spPr>
      </p:pic>
      <p:pic>
        <p:nvPicPr>
          <p:cNvPr id="76" name="Image 10" descr="preencoded.png"/>
          <p:cNvPicPr/>
          <p:nvPr/>
        </p:nvPicPr>
        <p:blipFill>
          <a:blip r:embed="rId11"/>
          <a:stretch/>
        </p:blipFill>
        <p:spPr>
          <a:xfrm>
            <a:off x="190440" y="368604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77" name="Image 11" descr="preencoded.png"/>
          <p:cNvPicPr/>
          <p:nvPr/>
        </p:nvPicPr>
        <p:blipFill>
          <a:blip r:embed="rId12"/>
          <a:stretch/>
        </p:blipFill>
        <p:spPr>
          <a:xfrm>
            <a:off x="609480" y="4181400"/>
            <a:ext cx="390240" cy="380520"/>
          </a:xfrm>
          <a:prstGeom prst="rect">
            <a:avLst/>
          </a:prstGeom>
          <a:ln w="0">
            <a:noFill/>
          </a:ln>
        </p:spPr>
      </p:pic>
      <p:pic>
        <p:nvPicPr>
          <p:cNvPr id="78" name="Image 12" descr="preencoded.png"/>
          <p:cNvPicPr/>
          <p:nvPr/>
        </p:nvPicPr>
        <p:blipFill>
          <a:blip r:embed="rId13"/>
          <a:stretch/>
        </p:blipFill>
        <p:spPr>
          <a:xfrm>
            <a:off x="6248520" y="3876840"/>
            <a:ext cx="5562360" cy="1761840"/>
          </a:xfrm>
          <a:prstGeom prst="rect">
            <a:avLst/>
          </a:prstGeom>
          <a:ln w="0">
            <a:noFill/>
          </a:ln>
        </p:spPr>
      </p:pic>
      <p:pic>
        <p:nvPicPr>
          <p:cNvPr id="79" name="Image 13" descr="preencoded.png"/>
          <p:cNvPicPr/>
          <p:nvPr/>
        </p:nvPicPr>
        <p:blipFill>
          <a:blip r:embed="rId14"/>
          <a:stretch/>
        </p:blipFill>
        <p:spPr>
          <a:xfrm>
            <a:off x="6058080" y="368604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80" name="Image 14" descr="preencoded.png"/>
          <p:cNvPicPr/>
          <p:nvPr/>
        </p:nvPicPr>
        <p:blipFill>
          <a:blip r:embed="rId15"/>
          <a:stretch/>
        </p:blipFill>
        <p:spPr>
          <a:xfrm>
            <a:off x="6477120" y="4181400"/>
            <a:ext cx="342720" cy="380520"/>
          </a:xfrm>
          <a:prstGeom prst="rect">
            <a:avLst/>
          </a:prstGeom>
          <a:ln w="0">
            <a:noFill/>
          </a:ln>
        </p:spPr>
      </p:pic>
      <p:pic>
        <p:nvPicPr>
          <p:cNvPr id="81" name="Image 15" descr="preencoded.png"/>
          <p:cNvPicPr/>
          <p:nvPr/>
        </p:nvPicPr>
        <p:blipFill>
          <a:blip r:embed="rId16"/>
          <a:stretch/>
        </p:blipFill>
        <p:spPr>
          <a:xfrm>
            <a:off x="380880" y="5943600"/>
            <a:ext cx="11429640" cy="533160"/>
          </a:xfrm>
          <a:prstGeom prst="rect">
            <a:avLst/>
          </a:prstGeom>
          <a:ln w="0">
            <a:noFill/>
          </a:ln>
        </p:spPr>
      </p:pic>
      <p:pic>
        <p:nvPicPr>
          <p:cNvPr id="82" name="Image 16" descr="preencoded.png"/>
          <p:cNvPicPr/>
          <p:nvPr/>
        </p:nvPicPr>
        <p:blipFill>
          <a:blip r:embed="rId17"/>
          <a:stretch/>
        </p:blipFill>
        <p:spPr>
          <a:xfrm>
            <a:off x="2262600" y="6124680"/>
            <a:ext cx="114120" cy="151920"/>
          </a:xfrm>
          <a:prstGeom prst="rect">
            <a:avLst/>
          </a:prstGeom>
          <a:ln w="0">
            <a:noFill/>
          </a:ln>
        </p:spPr>
      </p:pic>
      <p:sp>
        <p:nvSpPr>
          <p:cNvPr id="83" name="Text 0"/>
          <p:cNvSpPr/>
          <p:nvPr/>
        </p:nvSpPr>
        <p:spPr>
          <a:xfrm>
            <a:off x="380880" y="237960"/>
            <a:ext cx="4718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Research Objectives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-762120" y="1238400"/>
            <a:ext cx="13715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This study aims to understand diabetes prevalence through four key objectives: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301320" y="1619280"/>
            <a:ext cx="456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1152360" y="2038320"/>
            <a:ext cx="5474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Explore Prevalence Across Variables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1152360" y="2381400"/>
            <a:ext cx="456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Examine diabetes prevalence across demographic, physiological, and lifestyle variables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6168600" y="1619280"/>
            <a:ext cx="456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7058160" y="2038320"/>
            <a:ext cx="5428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Identify Subgroup Variations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7058160" y="2381400"/>
            <a:ext cx="452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Identify how diabetes prevalence varies within and across population subgroups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301320" y="3686040"/>
            <a:ext cx="456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1152360" y="4105440"/>
            <a:ext cx="5474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Analyze Interactions Between Factors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1152360" y="4448160"/>
            <a:ext cx="456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Analyze interactions and cumulative effects between multiple risk factors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6168600" y="3686040"/>
            <a:ext cx="456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6972480" y="4105440"/>
            <a:ext cx="5531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Foundation for Predictive Modeling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6972480" y="4448160"/>
            <a:ext cx="460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Provide analytical foundation for future predictive modeling and risk assessment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-579240" y="6095880"/>
            <a:ext cx="1334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 </a:t>
            </a:r>
            <a:r>
              <a:rPr b="0" i="1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This research emphasizes comprehensive pattern exploration rather than isolated factor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99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100" name="Image 2" descr="preencoded.png"/>
          <p:cNvPicPr/>
          <p:nvPr/>
        </p:nvPicPr>
        <p:blipFill>
          <a:blip r:embed="rId3"/>
          <a:stretch/>
        </p:blipFill>
        <p:spPr>
          <a:xfrm>
            <a:off x="380880" y="1238400"/>
            <a:ext cx="11429640" cy="1142640"/>
          </a:xfrm>
          <a:prstGeom prst="rect">
            <a:avLst/>
          </a:prstGeom>
          <a:ln w="0">
            <a:noFill/>
          </a:ln>
        </p:spPr>
      </p:pic>
      <p:pic>
        <p:nvPicPr>
          <p:cNvPr id="101" name="Image 3" descr="preencoded.png"/>
          <p:cNvPicPr/>
          <p:nvPr/>
        </p:nvPicPr>
        <p:blipFill>
          <a:blip r:embed="rId4"/>
          <a:stretch/>
        </p:blipFill>
        <p:spPr>
          <a:xfrm>
            <a:off x="609480" y="1619280"/>
            <a:ext cx="342720" cy="380520"/>
          </a:xfrm>
          <a:prstGeom prst="rect">
            <a:avLst/>
          </a:prstGeom>
          <a:ln w="0">
            <a:noFill/>
          </a:ln>
        </p:spPr>
      </p:pic>
      <p:pic>
        <p:nvPicPr>
          <p:cNvPr id="102" name="Image 4" descr="preencoded.png"/>
          <p:cNvPicPr/>
          <p:nvPr/>
        </p:nvPicPr>
        <p:blipFill>
          <a:blip r:embed="rId5"/>
          <a:stretch/>
        </p:blipFill>
        <p:spPr>
          <a:xfrm>
            <a:off x="380880" y="2610000"/>
            <a:ext cx="3657240" cy="2018880"/>
          </a:xfrm>
          <a:prstGeom prst="rect">
            <a:avLst/>
          </a:prstGeom>
          <a:ln w="0">
            <a:noFill/>
          </a:ln>
        </p:spPr>
      </p:pic>
      <p:pic>
        <p:nvPicPr>
          <p:cNvPr id="103" name="Image 5" descr="preencoded.png"/>
          <p:cNvPicPr/>
          <p:nvPr/>
        </p:nvPicPr>
        <p:blipFill>
          <a:blip r:embed="rId6"/>
          <a:stretch/>
        </p:blipFill>
        <p:spPr>
          <a:xfrm>
            <a:off x="1905120" y="280044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104" name="Image 6" descr="preencoded.png"/>
          <p:cNvPicPr/>
          <p:nvPr/>
        </p:nvPicPr>
        <p:blipFill>
          <a:blip r:embed="rId7"/>
          <a:stretch/>
        </p:blipFill>
        <p:spPr>
          <a:xfrm>
            <a:off x="2028960" y="2933640"/>
            <a:ext cx="361440" cy="342720"/>
          </a:xfrm>
          <a:prstGeom prst="rect">
            <a:avLst/>
          </a:prstGeom>
          <a:ln w="0">
            <a:noFill/>
          </a:ln>
        </p:spPr>
      </p:pic>
      <p:pic>
        <p:nvPicPr>
          <p:cNvPr id="105" name="Image 7" descr="preencoded.png"/>
          <p:cNvPicPr/>
          <p:nvPr/>
        </p:nvPicPr>
        <p:blipFill>
          <a:blip r:embed="rId8"/>
          <a:stretch/>
        </p:blipFill>
        <p:spPr>
          <a:xfrm>
            <a:off x="789120" y="394344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06" name="Image 8" descr="preencoded.png"/>
          <p:cNvPicPr/>
          <p:nvPr/>
        </p:nvPicPr>
        <p:blipFill>
          <a:blip r:embed="rId9"/>
          <a:stretch/>
        </p:blipFill>
        <p:spPr>
          <a:xfrm>
            <a:off x="789120" y="424800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07" name="Image 9" descr="preencoded.png"/>
          <p:cNvPicPr/>
          <p:nvPr/>
        </p:nvPicPr>
        <p:blipFill>
          <a:blip r:embed="rId10"/>
          <a:stretch/>
        </p:blipFill>
        <p:spPr>
          <a:xfrm>
            <a:off x="4267080" y="2610000"/>
            <a:ext cx="3657240" cy="2018880"/>
          </a:xfrm>
          <a:prstGeom prst="rect">
            <a:avLst/>
          </a:prstGeom>
          <a:ln w="0">
            <a:noFill/>
          </a:ln>
        </p:spPr>
      </p:pic>
      <p:pic>
        <p:nvPicPr>
          <p:cNvPr id="108" name="Image 10" descr="preencoded.png"/>
          <p:cNvPicPr/>
          <p:nvPr/>
        </p:nvPicPr>
        <p:blipFill>
          <a:blip r:embed="rId11"/>
          <a:stretch/>
        </p:blipFill>
        <p:spPr>
          <a:xfrm>
            <a:off x="5791320" y="280044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109" name="Image 11" descr="preencoded.png"/>
          <p:cNvPicPr/>
          <p:nvPr/>
        </p:nvPicPr>
        <p:blipFill>
          <a:blip r:embed="rId12"/>
          <a:stretch/>
        </p:blipFill>
        <p:spPr>
          <a:xfrm>
            <a:off x="5952960" y="2933640"/>
            <a:ext cx="285480" cy="342720"/>
          </a:xfrm>
          <a:prstGeom prst="rect">
            <a:avLst/>
          </a:prstGeom>
          <a:ln w="0">
            <a:noFill/>
          </a:ln>
        </p:spPr>
      </p:pic>
      <p:pic>
        <p:nvPicPr>
          <p:cNvPr id="110" name="Image 12" descr="preencoded.png"/>
          <p:cNvPicPr/>
          <p:nvPr/>
        </p:nvPicPr>
        <p:blipFill>
          <a:blip r:embed="rId13"/>
          <a:stretch/>
        </p:blipFill>
        <p:spPr>
          <a:xfrm>
            <a:off x="4892400" y="394344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11" name="Image 13" descr="preencoded.png"/>
          <p:cNvPicPr/>
          <p:nvPr/>
        </p:nvPicPr>
        <p:blipFill>
          <a:blip r:embed="rId14"/>
          <a:stretch/>
        </p:blipFill>
        <p:spPr>
          <a:xfrm>
            <a:off x="4892400" y="424800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12" name="Image 14" descr="preencoded.png"/>
          <p:cNvPicPr/>
          <p:nvPr/>
        </p:nvPicPr>
        <p:blipFill>
          <a:blip r:embed="rId15"/>
          <a:stretch/>
        </p:blipFill>
        <p:spPr>
          <a:xfrm>
            <a:off x="8153280" y="2610000"/>
            <a:ext cx="3657240" cy="2018880"/>
          </a:xfrm>
          <a:prstGeom prst="rect">
            <a:avLst/>
          </a:prstGeom>
          <a:ln w="0">
            <a:noFill/>
          </a:ln>
        </p:spPr>
      </p:pic>
      <p:pic>
        <p:nvPicPr>
          <p:cNvPr id="113" name="Image 15" descr="preencoded.png"/>
          <p:cNvPicPr/>
          <p:nvPr/>
        </p:nvPicPr>
        <p:blipFill>
          <a:blip r:embed="rId16"/>
          <a:stretch/>
        </p:blipFill>
        <p:spPr>
          <a:xfrm>
            <a:off x="9677520" y="280044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114" name="Image 16" descr="preencoded.png"/>
          <p:cNvPicPr/>
          <p:nvPr/>
        </p:nvPicPr>
        <p:blipFill>
          <a:blip r:embed="rId17"/>
          <a:stretch/>
        </p:blipFill>
        <p:spPr>
          <a:xfrm>
            <a:off x="9858240" y="2933640"/>
            <a:ext cx="247320" cy="342720"/>
          </a:xfrm>
          <a:prstGeom prst="rect">
            <a:avLst/>
          </a:prstGeom>
          <a:ln w="0">
            <a:noFill/>
          </a:ln>
        </p:spPr>
      </p:pic>
      <p:pic>
        <p:nvPicPr>
          <p:cNvPr id="115" name="Image 17" descr="preencoded.png"/>
          <p:cNvPicPr/>
          <p:nvPr/>
        </p:nvPicPr>
        <p:blipFill>
          <a:blip r:embed="rId18"/>
          <a:stretch/>
        </p:blipFill>
        <p:spPr>
          <a:xfrm>
            <a:off x="9026640" y="394344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16" name="Image 18" descr="preencoded.png"/>
          <p:cNvPicPr/>
          <p:nvPr/>
        </p:nvPicPr>
        <p:blipFill>
          <a:blip r:embed="rId19"/>
          <a:stretch/>
        </p:blipFill>
        <p:spPr>
          <a:xfrm>
            <a:off x="9026640" y="424800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17" name="Image 19" descr="preencoded.png"/>
          <p:cNvPicPr/>
          <p:nvPr/>
        </p:nvPicPr>
        <p:blipFill>
          <a:blip r:embed="rId20"/>
          <a:stretch/>
        </p:blipFill>
        <p:spPr>
          <a:xfrm>
            <a:off x="380880" y="4857840"/>
            <a:ext cx="11429640" cy="1790280"/>
          </a:xfrm>
          <a:prstGeom prst="rect">
            <a:avLst/>
          </a:prstGeom>
          <a:ln w="0">
            <a:noFill/>
          </a:ln>
        </p:spPr>
      </p:pic>
      <p:pic>
        <p:nvPicPr>
          <p:cNvPr id="118" name="Image 20" descr="preencoded.png"/>
          <p:cNvPicPr/>
          <p:nvPr/>
        </p:nvPicPr>
        <p:blipFill>
          <a:blip r:embed="rId21"/>
          <a:stretch/>
        </p:blipFill>
        <p:spPr>
          <a:xfrm>
            <a:off x="609480" y="508644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119" name="Image 21" descr="preencoded.png"/>
          <p:cNvPicPr/>
          <p:nvPr/>
        </p:nvPicPr>
        <p:blipFill>
          <a:blip r:embed="rId22"/>
          <a:stretch/>
        </p:blipFill>
        <p:spPr>
          <a:xfrm>
            <a:off x="752400" y="5219640"/>
            <a:ext cx="323640" cy="342720"/>
          </a:xfrm>
          <a:prstGeom prst="rect">
            <a:avLst/>
          </a:prstGeom>
          <a:ln w="0">
            <a:noFill/>
          </a:ln>
        </p:spPr>
      </p:pic>
      <p:pic>
        <p:nvPicPr>
          <p:cNvPr id="120" name="Image 22" descr="preencoded.png"/>
          <p:cNvPicPr/>
          <p:nvPr/>
        </p:nvPicPr>
        <p:blipFill>
          <a:blip r:embed="rId23"/>
          <a:stretch/>
        </p:blipFill>
        <p:spPr>
          <a:xfrm>
            <a:off x="1447920" y="6267600"/>
            <a:ext cx="3377880" cy="75960"/>
          </a:xfrm>
          <a:prstGeom prst="rect">
            <a:avLst/>
          </a:prstGeom>
          <a:ln w="0">
            <a:noFill/>
          </a:ln>
        </p:spPr>
      </p:pic>
      <p:sp>
        <p:nvSpPr>
          <p:cNvPr id="121" name="Text 0"/>
          <p:cNvSpPr/>
          <p:nvPr/>
        </p:nvSpPr>
        <p:spPr>
          <a:xfrm>
            <a:off x="380880" y="237960"/>
            <a:ext cx="4360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Research Question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1104840" y="1467000"/>
            <a:ext cx="104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How does diabetes prevalence vary across different groups and behaviors?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1080360" y="3562200"/>
            <a:ext cx="2710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d4ed8"/>
                </a:solidFill>
                <a:latin typeface="ui-sans-serif"/>
                <a:ea typeface="ui-sans-serif"/>
              </a:rPr>
              <a:t>Demographic Groups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979560" y="3905280"/>
            <a:ext cx="1037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Age groups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979560" y="4210200"/>
            <a:ext cx="3180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Other demographic characteristics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5125320" y="3562200"/>
            <a:ext cx="2328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5803d"/>
                </a:solidFill>
                <a:latin typeface="ui-sans-serif"/>
                <a:ea typeface="ui-sans-serif"/>
              </a:rPr>
              <a:t>Body Composition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5083200" y="3905280"/>
            <a:ext cx="135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BMI categories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5083200" y="4210200"/>
            <a:ext cx="2658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Physical composition metrics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8955000" y="3562200"/>
            <a:ext cx="2465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2410c"/>
                </a:solidFill>
                <a:latin typeface="ui-sans-serif"/>
                <a:ea typeface="ui-sans-serif"/>
              </a:rPr>
              <a:t>Lifestyle Behaviors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9217080" y="3905280"/>
            <a:ext cx="206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Physical activity levels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9217080" y="4210200"/>
            <a:ext cx="141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Smoking status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1447920" y="5086440"/>
            <a:ext cx="101343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Comprehensive Pattern Exploration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1447920" y="5505480"/>
            <a:ext cx="101343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This research question emphasizes comprehensive pattern exploration and avoids reducing diabetes risk to a limited set of variables.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4978440" y="6191280"/>
            <a:ext cx="4679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Patterns emerge from interactions between factors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36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137" name="Image 2" descr="preencoded.png"/>
          <p:cNvPicPr/>
          <p:nvPr/>
        </p:nvPicPr>
        <p:blipFill>
          <a:blip r:embed="rId3"/>
          <a:stretch/>
        </p:blipFill>
        <p:spPr>
          <a:xfrm>
            <a:off x="380880" y="1238400"/>
            <a:ext cx="11429640" cy="2057040"/>
          </a:xfrm>
          <a:prstGeom prst="rect">
            <a:avLst/>
          </a:prstGeom>
          <a:ln w="0">
            <a:noFill/>
          </a:ln>
        </p:spPr>
      </p:pic>
      <p:pic>
        <p:nvPicPr>
          <p:cNvPr id="138" name="Image 3" descr="preencoded.png"/>
          <p:cNvPicPr/>
          <p:nvPr/>
        </p:nvPicPr>
        <p:blipFill>
          <a:blip r:embed="rId4"/>
          <a:stretch/>
        </p:blipFill>
        <p:spPr>
          <a:xfrm>
            <a:off x="7924680" y="1552680"/>
            <a:ext cx="2857320" cy="1428480"/>
          </a:xfrm>
          <a:prstGeom prst="rect">
            <a:avLst/>
          </a:prstGeom>
          <a:ln w="0">
            <a:noFill/>
          </a:ln>
        </p:spPr>
      </p:pic>
      <p:pic>
        <p:nvPicPr>
          <p:cNvPr id="139" name="Image 4" descr="preencoded.png"/>
          <p:cNvPicPr/>
          <p:nvPr/>
        </p:nvPicPr>
        <p:blipFill>
          <a:blip r:embed="rId5"/>
          <a:stretch/>
        </p:blipFill>
        <p:spPr>
          <a:xfrm>
            <a:off x="380880" y="3981600"/>
            <a:ext cx="5600520" cy="990360"/>
          </a:xfrm>
          <a:prstGeom prst="rect">
            <a:avLst/>
          </a:prstGeom>
          <a:ln w="0">
            <a:noFill/>
          </a:ln>
        </p:spPr>
      </p:pic>
      <p:pic>
        <p:nvPicPr>
          <p:cNvPr id="140" name="Image 5" descr="preencoded.png"/>
          <p:cNvPicPr/>
          <p:nvPr/>
        </p:nvPicPr>
        <p:blipFill>
          <a:blip r:embed="rId6"/>
          <a:stretch/>
        </p:blipFill>
        <p:spPr>
          <a:xfrm>
            <a:off x="571680" y="417204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141" name="Image 6" descr="preencoded.png"/>
          <p:cNvPicPr/>
          <p:nvPr/>
        </p:nvPicPr>
        <p:blipFill>
          <a:blip r:embed="rId7"/>
          <a:stretch/>
        </p:blipFill>
        <p:spPr>
          <a:xfrm>
            <a:off x="695160" y="4305240"/>
            <a:ext cx="361440" cy="342720"/>
          </a:xfrm>
          <a:prstGeom prst="rect">
            <a:avLst/>
          </a:prstGeom>
          <a:ln w="0">
            <a:noFill/>
          </a:ln>
        </p:spPr>
      </p:pic>
      <p:pic>
        <p:nvPicPr>
          <p:cNvPr id="142" name="Image 7" descr="preencoded.png"/>
          <p:cNvPicPr/>
          <p:nvPr/>
        </p:nvPicPr>
        <p:blipFill>
          <a:blip r:embed="rId8"/>
          <a:stretch/>
        </p:blipFill>
        <p:spPr>
          <a:xfrm>
            <a:off x="1371600" y="457200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43" name="Image 8" descr="preencoded.png"/>
          <p:cNvPicPr/>
          <p:nvPr/>
        </p:nvPicPr>
        <p:blipFill>
          <a:blip r:embed="rId9"/>
          <a:stretch/>
        </p:blipFill>
        <p:spPr>
          <a:xfrm>
            <a:off x="6210360" y="3981600"/>
            <a:ext cx="5600520" cy="990360"/>
          </a:xfrm>
          <a:prstGeom prst="rect">
            <a:avLst/>
          </a:prstGeom>
          <a:ln w="0">
            <a:noFill/>
          </a:ln>
        </p:spPr>
      </p:pic>
      <p:pic>
        <p:nvPicPr>
          <p:cNvPr id="144" name="Image 9" descr="preencoded.png"/>
          <p:cNvPicPr/>
          <p:nvPr/>
        </p:nvPicPr>
        <p:blipFill>
          <a:blip r:embed="rId10"/>
          <a:stretch/>
        </p:blipFill>
        <p:spPr>
          <a:xfrm>
            <a:off x="6400800" y="417204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145" name="Image 10" descr="preencoded.png"/>
          <p:cNvPicPr/>
          <p:nvPr/>
        </p:nvPicPr>
        <p:blipFill>
          <a:blip r:embed="rId11"/>
          <a:stretch/>
        </p:blipFill>
        <p:spPr>
          <a:xfrm>
            <a:off x="6562800" y="4305240"/>
            <a:ext cx="285480" cy="342720"/>
          </a:xfrm>
          <a:prstGeom prst="rect">
            <a:avLst/>
          </a:prstGeom>
          <a:ln w="0">
            <a:noFill/>
          </a:ln>
        </p:spPr>
      </p:pic>
      <p:pic>
        <p:nvPicPr>
          <p:cNvPr id="146" name="Image 11" descr="preencoded.png"/>
          <p:cNvPicPr/>
          <p:nvPr/>
        </p:nvPicPr>
        <p:blipFill>
          <a:blip r:embed="rId12"/>
          <a:stretch/>
        </p:blipFill>
        <p:spPr>
          <a:xfrm>
            <a:off x="7201080" y="457200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47" name="Image 12" descr="preencoded.png"/>
          <p:cNvPicPr/>
          <p:nvPr/>
        </p:nvPicPr>
        <p:blipFill>
          <a:blip r:embed="rId13"/>
          <a:stretch/>
        </p:blipFill>
        <p:spPr>
          <a:xfrm>
            <a:off x="380880" y="5200560"/>
            <a:ext cx="5600520" cy="1257120"/>
          </a:xfrm>
          <a:prstGeom prst="rect">
            <a:avLst/>
          </a:prstGeom>
          <a:ln w="0">
            <a:noFill/>
          </a:ln>
        </p:spPr>
      </p:pic>
      <p:pic>
        <p:nvPicPr>
          <p:cNvPr id="148" name="Image 13" descr="preencoded.png"/>
          <p:cNvPicPr/>
          <p:nvPr/>
        </p:nvPicPr>
        <p:blipFill>
          <a:blip r:embed="rId14"/>
          <a:stretch/>
        </p:blipFill>
        <p:spPr>
          <a:xfrm>
            <a:off x="571680" y="539100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149" name="Image 14" descr="preencoded.png"/>
          <p:cNvPicPr/>
          <p:nvPr/>
        </p:nvPicPr>
        <p:blipFill>
          <a:blip r:embed="rId15"/>
          <a:stretch/>
        </p:blipFill>
        <p:spPr>
          <a:xfrm>
            <a:off x="752400" y="5524560"/>
            <a:ext cx="247320" cy="342720"/>
          </a:xfrm>
          <a:prstGeom prst="rect">
            <a:avLst/>
          </a:prstGeom>
          <a:ln w="0">
            <a:noFill/>
          </a:ln>
        </p:spPr>
      </p:pic>
      <p:pic>
        <p:nvPicPr>
          <p:cNvPr id="150" name="Image 15" descr="preencoded.png"/>
          <p:cNvPicPr/>
          <p:nvPr/>
        </p:nvPicPr>
        <p:blipFill>
          <a:blip r:embed="rId16"/>
          <a:stretch/>
        </p:blipFill>
        <p:spPr>
          <a:xfrm>
            <a:off x="1371600" y="579132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51" name="Image 16" descr="preencoded.png"/>
          <p:cNvPicPr/>
          <p:nvPr/>
        </p:nvPicPr>
        <p:blipFill>
          <a:blip r:embed="rId17"/>
          <a:stretch/>
        </p:blipFill>
        <p:spPr>
          <a:xfrm>
            <a:off x="1371600" y="609588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52" name="Image 17" descr="preencoded.png"/>
          <p:cNvPicPr/>
          <p:nvPr/>
        </p:nvPicPr>
        <p:blipFill>
          <a:blip r:embed="rId18"/>
          <a:stretch/>
        </p:blipFill>
        <p:spPr>
          <a:xfrm>
            <a:off x="6210360" y="5200560"/>
            <a:ext cx="5600520" cy="1257120"/>
          </a:xfrm>
          <a:prstGeom prst="rect">
            <a:avLst/>
          </a:prstGeom>
          <a:ln w="0">
            <a:noFill/>
          </a:ln>
        </p:spPr>
      </p:pic>
      <p:pic>
        <p:nvPicPr>
          <p:cNvPr id="153" name="Image 18" descr="preencoded.png"/>
          <p:cNvPicPr/>
          <p:nvPr/>
        </p:nvPicPr>
        <p:blipFill>
          <a:blip r:embed="rId19"/>
          <a:stretch/>
        </p:blipFill>
        <p:spPr>
          <a:xfrm>
            <a:off x="6400800" y="539100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154" name="Image 19" descr="preencoded.png"/>
          <p:cNvPicPr/>
          <p:nvPr/>
        </p:nvPicPr>
        <p:blipFill>
          <a:blip r:embed="rId20"/>
          <a:stretch/>
        </p:blipFill>
        <p:spPr>
          <a:xfrm>
            <a:off x="6543720" y="5524560"/>
            <a:ext cx="323640" cy="342720"/>
          </a:xfrm>
          <a:prstGeom prst="rect">
            <a:avLst/>
          </a:prstGeom>
          <a:ln w="0">
            <a:noFill/>
          </a:ln>
        </p:spPr>
      </p:pic>
      <p:pic>
        <p:nvPicPr>
          <p:cNvPr id="155" name="Image 20" descr="preencoded.png"/>
          <p:cNvPicPr/>
          <p:nvPr/>
        </p:nvPicPr>
        <p:blipFill>
          <a:blip r:embed="rId21"/>
          <a:stretch/>
        </p:blipFill>
        <p:spPr>
          <a:xfrm>
            <a:off x="7201080" y="579132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156" name="Image 21" descr="preencoded.png"/>
          <p:cNvPicPr/>
          <p:nvPr/>
        </p:nvPicPr>
        <p:blipFill>
          <a:blip r:embed="rId22"/>
          <a:stretch/>
        </p:blipFill>
        <p:spPr>
          <a:xfrm>
            <a:off x="7201080" y="6095880"/>
            <a:ext cx="114120" cy="151920"/>
          </a:xfrm>
          <a:prstGeom prst="rect">
            <a:avLst/>
          </a:prstGeom>
          <a:ln w="0">
            <a:noFill/>
          </a:ln>
        </p:spPr>
      </p:pic>
      <p:sp>
        <p:nvSpPr>
          <p:cNvPr id="157" name="Text 0"/>
          <p:cNvSpPr/>
          <p:nvPr/>
        </p:nvSpPr>
        <p:spPr>
          <a:xfrm>
            <a:off x="380880" y="237960"/>
            <a:ext cx="4125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Dataset Overview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09480" y="1467000"/>
            <a:ext cx="7314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Dataset Scale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609480" y="1886040"/>
            <a:ext cx="73148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The dataset contains </a:t>
            </a:r>
            <a:r>
              <a:rPr b="1" lang="en-US" sz="1350" spc="-1" strike="noStrike">
                <a:solidFill>
                  <a:srgbClr val="16a34a"/>
                </a:solidFill>
                <a:latin typeface="ui-sans-serif"/>
                <a:ea typeface="ui-sans-serif"/>
              </a:rPr>
              <a:t>253,680</a:t>
            </a: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 individual records, each representing a unique participant in a health survey.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609480" y="2533680"/>
            <a:ext cx="73148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This scale enables robust identification of population-level trends and detailed subgroup analysis.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380880" y="3524400"/>
            <a:ext cx="11429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Variable Categories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1371600" y="4172040"/>
            <a:ext cx="4001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d4ed8"/>
                </a:solidFill>
                <a:latin typeface="ui-sans-serif"/>
                <a:ea typeface="ui-sans-serif"/>
              </a:rPr>
              <a:t>Demographic Characteristics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1562040" y="4514760"/>
            <a:ext cx="3772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Age groups and demographic breakdown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7201080" y="4172040"/>
            <a:ext cx="3350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5803d"/>
                </a:solidFill>
                <a:latin typeface="ui-sans-serif"/>
                <a:ea typeface="ui-sans-serif"/>
              </a:rPr>
              <a:t>Anthropometric Measures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7391520" y="4514760"/>
            <a:ext cx="309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BMI (Body Mass Index) categories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1371600" y="5391000"/>
            <a:ext cx="2465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2410c"/>
                </a:solidFill>
                <a:latin typeface="ui-sans-serif"/>
                <a:ea typeface="ui-sans-serif"/>
              </a:rPr>
              <a:t>Lifestyle Behaviors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1562040" y="5734080"/>
            <a:ext cx="206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Physical activity levels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1562040" y="6039000"/>
            <a:ext cx="141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Smoking status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7201080" y="5391000"/>
            <a:ext cx="3051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Health Indicators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7391520" y="5734080"/>
            <a:ext cx="282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Self-reported health conditions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4"/>
          <p:cNvSpPr/>
          <p:nvPr/>
        </p:nvSpPr>
        <p:spPr>
          <a:xfrm>
            <a:off x="7391520" y="6039000"/>
            <a:ext cx="246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Clinical diabetes indicators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73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174" name="Image 2" descr="preencoded.png"/>
          <p:cNvPicPr/>
          <p:nvPr/>
        </p:nvPicPr>
        <p:blipFill>
          <a:blip r:embed="rId3"/>
          <a:stretch/>
        </p:blipFill>
        <p:spPr>
          <a:xfrm>
            <a:off x="304920" y="1162080"/>
            <a:ext cx="11581920" cy="571320"/>
          </a:xfrm>
          <a:prstGeom prst="rect">
            <a:avLst/>
          </a:prstGeom>
          <a:ln w="0">
            <a:noFill/>
          </a:ln>
        </p:spPr>
      </p:pic>
      <p:pic>
        <p:nvPicPr>
          <p:cNvPr id="175" name="Image 3" descr="preencoded.png"/>
          <p:cNvPicPr/>
          <p:nvPr/>
        </p:nvPicPr>
        <p:blipFill>
          <a:blip r:embed="rId4"/>
          <a:stretch/>
        </p:blipFill>
        <p:spPr>
          <a:xfrm>
            <a:off x="457200" y="134316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176" name="Image 4" descr="preencoded.png"/>
          <p:cNvPicPr/>
          <p:nvPr/>
        </p:nvPicPr>
        <p:blipFill>
          <a:blip r:embed="rId5"/>
          <a:stretch/>
        </p:blipFill>
        <p:spPr>
          <a:xfrm>
            <a:off x="800280" y="2076480"/>
            <a:ext cx="1523520" cy="990360"/>
          </a:xfrm>
          <a:prstGeom prst="rect">
            <a:avLst/>
          </a:prstGeom>
          <a:ln w="0">
            <a:noFill/>
          </a:ln>
        </p:spPr>
      </p:pic>
      <p:pic>
        <p:nvPicPr>
          <p:cNvPr id="177" name="Image 5" descr="preencoded.png"/>
          <p:cNvPicPr/>
          <p:nvPr/>
        </p:nvPicPr>
        <p:blipFill>
          <a:blip r:embed="rId6"/>
          <a:stretch/>
        </p:blipFill>
        <p:spPr>
          <a:xfrm>
            <a:off x="1386000" y="2190600"/>
            <a:ext cx="352080" cy="456840"/>
          </a:xfrm>
          <a:prstGeom prst="rect">
            <a:avLst/>
          </a:prstGeom>
          <a:ln w="0">
            <a:noFill/>
          </a:ln>
        </p:spPr>
      </p:pic>
      <p:pic>
        <p:nvPicPr>
          <p:cNvPr id="178" name="Image 6" descr="preencoded.png"/>
          <p:cNvPicPr/>
          <p:nvPr/>
        </p:nvPicPr>
        <p:blipFill>
          <a:blip r:embed="rId7"/>
          <a:stretch/>
        </p:blipFill>
        <p:spPr>
          <a:xfrm>
            <a:off x="1461960" y="2266920"/>
            <a:ext cx="199800" cy="304560"/>
          </a:xfrm>
          <a:prstGeom prst="rect">
            <a:avLst/>
          </a:prstGeom>
          <a:ln w="0">
            <a:noFill/>
          </a:ln>
        </p:spPr>
      </p:pic>
      <p:pic>
        <p:nvPicPr>
          <p:cNvPr id="179" name="Image 7" descr="preencoded.png"/>
          <p:cNvPicPr/>
          <p:nvPr/>
        </p:nvPicPr>
        <p:blipFill>
          <a:blip r:embed="rId8"/>
          <a:stretch/>
        </p:blipFill>
        <p:spPr>
          <a:xfrm>
            <a:off x="2505240" y="2562120"/>
            <a:ext cx="380520" cy="18720"/>
          </a:xfrm>
          <a:prstGeom prst="rect">
            <a:avLst/>
          </a:prstGeom>
          <a:ln w="0">
            <a:noFill/>
          </a:ln>
        </p:spPr>
      </p:pic>
      <p:pic>
        <p:nvPicPr>
          <p:cNvPr id="180" name="Image 8" descr="preencoded.png"/>
          <p:cNvPicPr/>
          <p:nvPr/>
        </p:nvPicPr>
        <p:blipFill>
          <a:blip r:embed="rId9"/>
          <a:stretch/>
        </p:blipFill>
        <p:spPr>
          <a:xfrm>
            <a:off x="3067200" y="1962000"/>
            <a:ext cx="1523520" cy="1218960"/>
          </a:xfrm>
          <a:prstGeom prst="rect">
            <a:avLst/>
          </a:prstGeom>
          <a:ln w="0">
            <a:noFill/>
          </a:ln>
        </p:spPr>
      </p:pic>
      <p:pic>
        <p:nvPicPr>
          <p:cNvPr id="181" name="Image 9" descr="preencoded.png"/>
          <p:cNvPicPr/>
          <p:nvPr/>
        </p:nvPicPr>
        <p:blipFill>
          <a:blip r:embed="rId10"/>
          <a:stretch/>
        </p:blipFill>
        <p:spPr>
          <a:xfrm>
            <a:off x="3638520" y="2076480"/>
            <a:ext cx="380520" cy="456840"/>
          </a:xfrm>
          <a:prstGeom prst="rect">
            <a:avLst/>
          </a:prstGeom>
          <a:ln w="0">
            <a:noFill/>
          </a:ln>
        </p:spPr>
      </p:pic>
      <p:pic>
        <p:nvPicPr>
          <p:cNvPr id="182" name="Image 10" descr="preencoded.png"/>
          <p:cNvPicPr/>
          <p:nvPr/>
        </p:nvPicPr>
        <p:blipFill>
          <a:blip r:embed="rId11"/>
          <a:stretch/>
        </p:blipFill>
        <p:spPr>
          <a:xfrm>
            <a:off x="3714840" y="215280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183" name="Image 11" descr="preencoded.png"/>
          <p:cNvPicPr/>
          <p:nvPr/>
        </p:nvPicPr>
        <p:blipFill>
          <a:blip r:embed="rId12"/>
          <a:stretch/>
        </p:blipFill>
        <p:spPr>
          <a:xfrm>
            <a:off x="4772160" y="2562120"/>
            <a:ext cx="380520" cy="18720"/>
          </a:xfrm>
          <a:prstGeom prst="rect">
            <a:avLst/>
          </a:prstGeom>
          <a:ln w="0">
            <a:noFill/>
          </a:ln>
        </p:spPr>
      </p:pic>
      <p:pic>
        <p:nvPicPr>
          <p:cNvPr id="184" name="Image 12" descr="preencoded.png"/>
          <p:cNvPicPr/>
          <p:nvPr/>
        </p:nvPicPr>
        <p:blipFill>
          <a:blip r:embed="rId13"/>
          <a:stretch/>
        </p:blipFill>
        <p:spPr>
          <a:xfrm>
            <a:off x="5334120" y="2076480"/>
            <a:ext cx="1523520" cy="990360"/>
          </a:xfrm>
          <a:prstGeom prst="rect">
            <a:avLst/>
          </a:prstGeom>
          <a:ln w="0">
            <a:noFill/>
          </a:ln>
        </p:spPr>
      </p:pic>
      <p:pic>
        <p:nvPicPr>
          <p:cNvPr id="185" name="Image 13" descr="preencoded.png"/>
          <p:cNvPicPr/>
          <p:nvPr/>
        </p:nvPicPr>
        <p:blipFill>
          <a:blip r:embed="rId14"/>
          <a:stretch/>
        </p:blipFill>
        <p:spPr>
          <a:xfrm>
            <a:off x="5905440" y="2190600"/>
            <a:ext cx="380520" cy="456840"/>
          </a:xfrm>
          <a:prstGeom prst="rect">
            <a:avLst/>
          </a:prstGeom>
          <a:ln w="0">
            <a:noFill/>
          </a:ln>
        </p:spPr>
      </p:pic>
      <p:pic>
        <p:nvPicPr>
          <p:cNvPr id="186" name="Image 14" descr="preencoded.png"/>
          <p:cNvPicPr/>
          <p:nvPr/>
        </p:nvPicPr>
        <p:blipFill>
          <a:blip r:embed="rId15"/>
          <a:stretch/>
        </p:blipFill>
        <p:spPr>
          <a:xfrm>
            <a:off x="5981760" y="226692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187" name="Image 15" descr="preencoded.png"/>
          <p:cNvPicPr/>
          <p:nvPr/>
        </p:nvPicPr>
        <p:blipFill>
          <a:blip r:embed="rId16"/>
          <a:stretch/>
        </p:blipFill>
        <p:spPr>
          <a:xfrm>
            <a:off x="7039080" y="2562120"/>
            <a:ext cx="380520" cy="18720"/>
          </a:xfrm>
          <a:prstGeom prst="rect">
            <a:avLst/>
          </a:prstGeom>
          <a:ln w="0">
            <a:noFill/>
          </a:ln>
        </p:spPr>
      </p:pic>
      <p:pic>
        <p:nvPicPr>
          <p:cNvPr id="188" name="Image 16" descr="preencoded.png"/>
          <p:cNvPicPr/>
          <p:nvPr/>
        </p:nvPicPr>
        <p:blipFill>
          <a:blip r:embed="rId17"/>
          <a:stretch/>
        </p:blipFill>
        <p:spPr>
          <a:xfrm>
            <a:off x="7601040" y="2076480"/>
            <a:ext cx="1523520" cy="990360"/>
          </a:xfrm>
          <a:prstGeom prst="rect">
            <a:avLst/>
          </a:prstGeom>
          <a:ln w="0">
            <a:noFill/>
          </a:ln>
        </p:spPr>
      </p:pic>
      <p:pic>
        <p:nvPicPr>
          <p:cNvPr id="189" name="Image 17" descr="preencoded.png"/>
          <p:cNvPicPr/>
          <p:nvPr/>
        </p:nvPicPr>
        <p:blipFill>
          <a:blip r:embed="rId18"/>
          <a:stretch/>
        </p:blipFill>
        <p:spPr>
          <a:xfrm>
            <a:off x="8172360" y="2190600"/>
            <a:ext cx="380520" cy="456840"/>
          </a:xfrm>
          <a:prstGeom prst="rect">
            <a:avLst/>
          </a:prstGeom>
          <a:ln w="0">
            <a:noFill/>
          </a:ln>
        </p:spPr>
      </p:pic>
      <p:pic>
        <p:nvPicPr>
          <p:cNvPr id="190" name="Image 18" descr="preencoded.png"/>
          <p:cNvPicPr/>
          <p:nvPr/>
        </p:nvPicPr>
        <p:blipFill>
          <a:blip r:embed="rId19"/>
          <a:stretch/>
        </p:blipFill>
        <p:spPr>
          <a:xfrm>
            <a:off x="8248680" y="226692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191" name="Image 19" descr="preencoded.png"/>
          <p:cNvPicPr/>
          <p:nvPr/>
        </p:nvPicPr>
        <p:blipFill>
          <a:blip r:embed="rId20"/>
          <a:stretch/>
        </p:blipFill>
        <p:spPr>
          <a:xfrm>
            <a:off x="9306000" y="2562120"/>
            <a:ext cx="380520" cy="18720"/>
          </a:xfrm>
          <a:prstGeom prst="rect">
            <a:avLst/>
          </a:prstGeom>
          <a:ln w="0">
            <a:noFill/>
          </a:ln>
        </p:spPr>
      </p:pic>
      <p:pic>
        <p:nvPicPr>
          <p:cNvPr id="192" name="Image 20" descr="preencoded.png"/>
          <p:cNvPicPr/>
          <p:nvPr/>
        </p:nvPicPr>
        <p:blipFill>
          <a:blip r:embed="rId21"/>
          <a:stretch/>
        </p:blipFill>
        <p:spPr>
          <a:xfrm>
            <a:off x="9867960" y="1962000"/>
            <a:ext cx="1523520" cy="1218960"/>
          </a:xfrm>
          <a:prstGeom prst="rect">
            <a:avLst/>
          </a:prstGeom>
          <a:ln w="0">
            <a:noFill/>
          </a:ln>
        </p:spPr>
      </p:pic>
      <p:pic>
        <p:nvPicPr>
          <p:cNvPr id="193" name="Image 21" descr="preencoded.png"/>
          <p:cNvPicPr/>
          <p:nvPr/>
        </p:nvPicPr>
        <p:blipFill>
          <a:blip r:embed="rId22"/>
          <a:stretch/>
        </p:blipFill>
        <p:spPr>
          <a:xfrm>
            <a:off x="10439280" y="2076480"/>
            <a:ext cx="380520" cy="456840"/>
          </a:xfrm>
          <a:prstGeom prst="rect">
            <a:avLst/>
          </a:prstGeom>
          <a:ln w="0">
            <a:noFill/>
          </a:ln>
        </p:spPr>
      </p:pic>
      <p:pic>
        <p:nvPicPr>
          <p:cNvPr id="194" name="Image 22" descr="preencoded.png"/>
          <p:cNvPicPr/>
          <p:nvPr/>
        </p:nvPicPr>
        <p:blipFill>
          <a:blip r:embed="rId23"/>
          <a:stretch/>
        </p:blipFill>
        <p:spPr>
          <a:xfrm>
            <a:off x="10515600" y="215280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195" name="Image 23" descr="preencoded.png"/>
          <p:cNvPicPr/>
          <p:nvPr/>
        </p:nvPicPr>
        <p:blipFill>
          <a:blip r:embed="rId24"/>
          <a:stretch/>
        </p:blipFill>
        <p:spPr>
          <a:xfrm>
            <a:off x="304920" y="3486240"/>
            <a:ext cx="5676480" cy="1180800"/>
          </a:xfrm>
          <a:prstGeom prst="rect">
            <a:avLst/>
          </a:prstGeom>
          <a:ln w="0">
            <a:noFill/>
          </a:ln>
        </p:spPr>
      </p:pic>
      <p:pic>
        <p:nvPicPr>
          <p:cNvPr id="196" name="Image 24" descr="preencoded.png"/>
          <p:cNvPicPr/>
          <p:nvPr/>
        </p:nvPicPr>
        <p:blipFill>
          <a:blip r:embed="rId25"/>
          <a:stretch/>
        </p:blipFill>
        <p:spPr>
          <a:xfrm>
            <a:off x="495360" y="3676680"/>
            <a:ext cx="456840" cy="533160"/>
          </a:xfrm>
          <a:prstGeom prst="rect">
            <a:avLst/>
          </a:prstGeom>
          <a:ln w="0">
            <a:noFill/>
          </a:ln>
        </p:spPr>
      </p:pic>
      <p:pic>
        <p:nvPicPr>
          <p:cNvPr id="197" name="Image 25" descr="preencoded.png"/>
          <p:cNvPicPr/>
          <p:nvPr/>
        </p:nvPicPr>
        <p:blipFill>
          <a:blip r:embed="rId26"/>
          <a:stretch/>
        </p:blipFill>
        <p:spPr>
          <a:xfrm>
            <a:off x="609480" y="379080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198" name="Image 26" descr="preencoded.png"/>
          <p:cNvPicPr/>
          <p:nvPr/>
        </p:nvPicPr>
        <p:blipFill>
          <a:blip r:embed="rId27"/>
          <a:stretch/>
        </p:blipFill>
        <p:spPr>
          <a:xfrm>
            <a:off x="6210360" y="3486240"/>
            <a:ext cx="5676480" cy="1180800"/>
          </a:xfrm>
          <a:prstGeom prst="rect">
            <a:avLst/>
          </a:prstGeom>
          <a:ln w="0">
            <a:noFill/>
          </a:ln>
        </p:spPr>
      </p:pic>
      <p:pic>
        <p:nvPicPr>
          <p:cNvPr id="199" name="Image 27" descr="preencoded.png"/>
          <p:cNvPicPr/>
          <p:nvPr/>
        </p:nvPicPr>
        <p:blipFill>
          <a:blip r:embed="rId28"/>
          <a:stretch/>
        </p:blipFill>
        <p:spPr>
          <a:xfrm>
            <a:off x="6400800" y="3676680"/>
            <a:ext cx="456840" cy="533160"/>
          </a:xfrm>
          <a:prstGeom prst="rect">
            <a:avLst/>
          </a:prstGeom>
          <a:ln w="0">
            <a:noFill/>
          </a:ln>
        </p:spPr>
      </p:pic>
      <p:pic>
        <p:nvPicPr>
          <p:cNvPr id="200" name="Image 28" descr="preencoded.png"/>
          <p:cNvPicPr/>
          <p:nvPr/>
        </p:nvPicPr>
        <p:blipFill>
          <a:blip r:embed="rId29"/>
          <a:stretch/>
        </p:blipFill>
        <p:spPr>
          <a:xfrm>
            <a:off x="6515280" y="379080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201" name="Image 29" descr="preencoded.png"/>
          <p:cNvPicPr/>
          <p:nvPr/>
        </p:nvPicPr>
        <p:blipFill>
          <a:blip r:embed="rId30"/>
          <a:stretch/>
        </p:blipFill>
        <p:spPr>
          <a:xfrm>
            <a:off x="304920" y="4896000"/>
            <a:ext cx="5676480" cy="1180800"/>
          </a:xfrm>
          <a:prstGeom prst="rect">
            <a:avLst/>
          </a:prstGeom>
          <a:ln w="0">
            <a:noFill/>
          </a:ln>
        </p:spPr>
      </p:pic>
      <p:pic>
        <p:nvPicPr>
          <p:cNvPr id="202" name="Image 30" descr="preencoded.png"/>
          <p:cNvPicPr/>
          <p:nvPr/>
        </p:nvPicPr>
        <p:blipFill>
          <a:blip r:embed="rId31"/>
          <a:stretch/>
        </p:blipFill>
        <p:spPr>
          <a:xfrm>
            <a:off x="495360" y="5086440"/>
            <a:ext cx="456840" cy="533160"/>
          </a:xfrm>
          <a:prstGeom prst="rect">
            <a:avLst/>
          </a:prstGeom>
          <a:ln w="0">
            <a:noFill/>
          </a:ln>
        </p:spPr>
      </p:pic>
      <p:pic>
        <p:nvPicPr>
          <p:cNvPr id="203" name="Image 31" descr="preencoded.png"/>
          <p:cNvPicPr/>
          <p:nvPr/>
        </p:nvPicPr>
        <p:blipFill>
          <a:blip r:embed="rId32"/>
          <a:stretch/>
        </p:blipFill>
        <p:spPr>
          <a:xfrm>
            <a:off x="609480" y="520056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204" name="Image 32" descr="preencoded.png"/>
          <p:cNvPicPr/>
          <p:nvPr/>
        </p:nvPicPr>
        <p:blipFill>
          <a:blip r:embed="rId33"/>
          <a:stretch/>
        </p:blipFill>
        <p:spPr>
          <a:xfrm>
            <a:off x="6210360" y="4896000"/>
            <a:ext cx="5676480" cy="1180800"/>
          </a:xfrm>
          <a:prstGeom prst="rect">
            <a:avLst/>
          </a:prstGeom>
          <a:ln w="0">
            <a:noFill/>
          </a:ln>
        </p:spPr>
      </p:pic>
      <p:pic>
        <p:nvPicPr>
          <p:cNvPr id="205" name="Image 33" descr="preencoded.png"/>
          <p:cNvPicPr/>
          <p:nvPr/>
        </p:nvPicPr>
        <p:blipFill>
          <a:blip r:embed="rId34"/>
          <a:stretch/>
        </p:blipFill>
        <p:spPr>
          <a:xfrm>
            <a:off x="6400800" y="5086440"/>
            <a:ext cx="456840" cy="533160"/>
          </a:xfrm>
          <a:prstGeom prst="rect">
            <a:avLst/>
          </a:prstGeom>
          <a:ln w="0">
            <a:noFill/>
          </a:ln>
        </p:spPr>
      </p:pic>
      <p:pic>
        <p:nvPicPr>
          <p:cNvPr id="206" name="Image 34" descr="preencoded.png"/>
          <p:cNvPicPr/>
          <p:nvPr/>
        </p:nvPicPr>
        <p:blipFill>
          <a:blip r:embed="rId35"/>
          <a:stretch/>
        </p:blipFill>
        <p:spPr>
          <a:xfrm>
            <a:off x="6515280" y="520056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207" name="Image 35" descr="preencoded.png"/>
          <p:cNvPicPr/>
          <p:nvPr/>
        </p:nvPicPr>
        <p:blipFill>
          <a:blip r:embed="rId36"/>
          <a:stretch/>
        </p:blipFill>
        <p:spPr>
          <a:xfrm>
            <a:off x="304920" y="6305400"/>
            <a:ext cx="11581920" cy="533160"/>
          </a:xfrm>
          <a:prstGeom prst="rect">
            <a:avLst/>
          </a:prstGeom>
          <a:ln w="0">
            <a:noFill/>
          </a:ln>
        </p:spPr>
      </p:pic>
      <p:pic>
        <p:nvPicPr>
          <p:cNvPr id="208" name="Image 36" descr="preencoded.png"/>
          <p:cNvPicPr/>
          <p:nvPr/>
        </p:nvPicPr>
        <p:blipFill>
          <a:blip r:embed="rId37"/>
          <a:stretch/>
        </p:blipFill>
        <p:spPr>
          <a:xfrm>
            <a:off x="1911960" y="6486480"/>
            <a:ext cx="114120" cy="151920"/>
          </a:xfrm>
          <a:prstGeom prst="rect">
            <a:avLst/>
          </a:prstGeom>
          <a:ln w="0">
            <a:noFill/>
          </a:ln>
        </p:spPr>
      </p:pic>
      <p:sp>
        <p:nvSpPr>
          <p:cNvPr id="209" name="Text 0"/>
          <p:cNvSpPr/>
          <p:nvPr/>
        </p:nvSpPr>
        <p:spPr>
          <a:xfrm>
            <a:off x="380880" y="237960"/>
            <a:ext cx="86497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Data Preparation and Quality Control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704880" y="1314360"/>
            <a:ext cx="13532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 </a:t>
            </a: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Prior to analysis, the dataset underwent rigorous preprocessing to ensure data quality and reliability of observed patterns.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1122120" y="2724120"/>
            <a:ext cx="879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Raw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3181320" y="2610000"/>
            <a:ext cx="129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Missing Value Handling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5644440" y="2724120"/>
            <a:ext cx="90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Validation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7642440" y="2724120"/>
            <a:ext cx="1440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Standardization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9982080" y="2610000"/>
            <a:ext cx="129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Analysis Ready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1104840" y="3676680"/>
            <a:ext cx="5623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Missing &amp; Inconsistent Values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1104840" y="4019400"/>
            <a:ext cx="468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Identification and handling of missing or inconsistent values to ensure data integrity.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7010280" y="3676680"/>
            <a:ext cx="4686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5803d"/>
                </a:solidFill>
                <a:latin typeface="ui-sans-serif"/>
                <a:ea typeface="ui-sans-serif"/>
              </a:rPr>
              <a:t>Variable Validation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7010280" y="4019400"/>
            <a:ext cx="468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Validation of variable ranges and distributions to ensure data accuracy.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1104840" y="5086440"/>
            <a:ext cx="4686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a580c"/>
                </a:solidFill>
                <a:latin typeface="ui-sans-serif"/>
                <a:ea typeface="ui-sans-serif"/>
              </a:rPr>
              <a:t>Standardization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1104840" y="5429160"/>
            <a:ext cx="468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Standardization of categorical variables for consistent analysis.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7010280" y="5086440"/>
            <a:ext cx="4926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d9488"/>
                </a:solidFill>
                <a:latin typeface="ui-sans-serif"/>
                <a:ea typeface="ui-sans-serif"/>
              </a:rPr>
              <a:t>Analysis Preparation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7010280" y="5429160"/>
            <a:ext cx="492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Data preparation for group-based and visual analysis.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-670680" y="6458040"/>
            <a:ext cx="1353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 </a:t>
            </a: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Why this matters: These steps ensure observed patterns are reliable and not artifacts of poor data quality.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26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227" name="Image 2" descr="preencoded.png"/>
          <p:cNvPicPr/>
          <p:nvPr/>
        </p:nvPicPr>
        <p:blipFill>
          <a:blip r:embed="rId3"/>
          <a:stretch/>
        </p:blipFill>
        <p:spPr>
          <a:xfrm>
            <a:off x="304920" y="1162080"/>
            <a:ext cx="11581920" cy="1028520"/>
          </a:xfrm>
          <a:prstGeom prst="rect">
            <a:avLst/>
          </a:prstGeom>
          <a:ln w="0">
            <a:noFill/>
          </a:ln>
        </p:spPr>
      </p:pic>
      <p:pic>
        <p:nvPicPr>
          <p:cNvPr id="228" name="Image 3" descr="preencoded.png"/>
          <p:cNvPicPr/>
          <p:nvPr/>
        </p:nvPicPr>
        <p:blipFill>
          <a:blip r:embed="rId4"/>
          <a:stretch/>
        </p:blipFill>
        <p:spPr>
          <a:xfrm>
            <a:off x="495360" y="1390680"/>
            <a:ext cx="361440" cy="342720"/>
          </a:xfrm>
          <a:prstGeom prst="rect">
            <a:avLst/>
          </a:prstGeom>
          <a:ln w="0">
            <a:noFill/>
          </a:ln>
        </p:spPr>
      </p:pic>
      <p:pic>
        <p:nvPicPr>
          <p:cNvPr id="229" name="Image 4" descr="preencoded.png"/>
          <p:cNvPicPr/>
          <p:nvPr/>
        </p:nvPicPr>
        <p:blipFill>
          <a:blip r:embed="rId5"/>
          <a:stretch/>
        </p:blipFill>
        <p:spPr>
          <a:xfrm>
            <a:off x="304920" y="2419200"/>
            <a:ext cx="5676480" cy="3847680"/>
          </a:xfrm>
          <a:prstGeom prst="rect">
            <a:avLst/>
          </a:prstGeom>
          <a:ln w="0">
            <a:noFill/>
          </a:ln>
        </p:spPr>
      </p:pic>
      <p:pic>
        <p:nvPicPr>
          <p:cNvPr id="230" name="Image 5" descr="preencoded.png"/>
          <p:cNvPicPr/>
          <p:nvPr/>
        </p:nvPicPr>
        <p:blipFill>
          <a:blip r:embed="rId6"/>
          <a:stretch/>
        </p:blipFill>
        <p:spPr>
          <a:xfrm>
            <a:off x="495360" y="2647800"/>
            <a:ext cx="256680" cy="228240"/>
          </a:xfrm>
          <a:prstGeom prst="rect">
            <a:avLst/>
          </a:prstGeom>
          <a:ln w="0">
            <a:noFill/>
          </a:ln>
        </p:spPr>
      </p:pic>
      <p:pic>
        <p:nvPicPr>
          <p:cNvPr id="231" name="Image 6" descr="preencoded.png"/>
          <p:cNvPicPr/>
          <p:nvPr/>
        </p:nvPicPr>
        <p:blipFill>
          <a:blip r:embed="rId7"/>
          <a:stretch/>
        </p:blipFill>
        <p:spPr>
          <a:xfrm>
            <a:off x="495360" y="3067200"/>
            <a:ext cx="5295600" cy="1554120"/>
          </a:xfrm>
          <a:prstGeom prst="rect">
            <a:avLst/>
          </a:prstGeom>
          <a:ln w="0">
            <a:noFill/>
          </a:ln>
        </p:spPr>
      </p:pic>
      <p:pic>
        <p:nvPicPr>
          <p:cNvPr id="232" name="Image 7" descr="preencoded.png"/>
          <p:cNvPicPr/>
          <p:nvPr/>
        </p:nvPicPr>
        <p:blipFill>
          <a:blip r:embed="rId8"/>
          <a:stretch/>
        </p:blipFill>
        <p:spPr>
          <a:xfrm>
            <a:off x="647640" y="3257640"/>
            <a:ext cx="190080" cy="190080"/>
          </a:xfrm>
          <a:prstGeom prst="rect">
            <a:avLst/>
          </a:prstGeom>
          <a:ln w="0">
            <a:noFill/>
          </a:ln>
        </p:spPr>
      </p:pic>
      <p:pic>
        <p:nvPicPr>
          <p:cNvPr id="233" name="Image 8" descr="preencoded.png"/>
          <p:cNvPicPr/>
          <p:nvPr/>
        </p:nvPicPr>
        <p:blipFill>
          <a:blip r:embed="rId9"/>
          <a:stretch/>
        </p:blipFill>
        <p:spPr>
          <a:xfrm>
            <a:off x="647640" y="3905280"/>
            <a:ext cx="1506240" cy="243720"/>
          </a:xfrm>
          <a:prstGeom prst="rect">
            <a:avLst/>
          </a:prstGeom>
          <a:ln w="0">
            <a:noFill/>
          </a:ln>
        </p:spPr>
      </p:pic>
      <p:pic>
        <p:nvPicPr>
          <p:cNvPr id="234" name="Image 9" descr="preencoded.png"/>
          <p:cNvPicPr/>
          <p:nvPr/>
        </p:nvPicPr>
        <p:blipFill>
          <a:blip r:embed="rId10"/>
          <a:stretch/>
        </p:blipFill>
        <p:spPr>
          <a:xfrm>
            <a:off x="2192400" y="3905280"/>
            <a:ext cx="2242800" cy="243720"/>
          </a:xfrm>
          <a:prstGeom prst="rect">
            <a:avLst/>
          </a:prstGeom>
          <a:ln w="0">
            <a:noFill/>
          </a:ln>
        </p:spPr>
      </p:pic>
      <p:pic>
        <p:nvPicPr>
          <p:cNvPr id="235" name="Image 10" descr="preencoded.png"/>
          <p:cNvPicPr/>
          <p:nvPr/>
        </p:nvPicPr>
        <p:blipFill>
          <a:blip r:embed="rId11"/>
          <a:stretch/>
        </p:blipFill>
        <p:spPr>
          <a:xfrm>
            <a:off x="647640" y="4187160"/>
            <a:ext cx="1429560" cy="243720"/>
          </a:xfrm>
          <a:prstGeom prst="rect">
            <a:avLst/>
          </a:prstGeom>
          <a:ln w="0">
            <a:noFill/>
          </a:ln>
        </p:spPr>
      </p:pic>
      <p:pic>
        <p:nvPicPr>
          <p:cNvPr id="236" name="Image 11" descr="preencoded.png"/>
          <p:cNvPicPr/>
          <p:nvPr/>
        </p:nvPicPr>
        <p:blipFill>
          <a:blip r:embed="rId12"/>
          <a:stretch/>
        </p:blipFill>
        <p:spPr>
          <a:xfrm>
            <a:off x="495360" y="4773960"/>
            <a:ext cx="5295600" cy="1272240"/>
          </a:xfrm>
          <a:prstGeom prst="rect">
            <a:avLst/>
          </a:prstGeom>
          <a:ln w="0">
            <a:noFill/>
          </a:ln>
        </p:spPr>
      </p:pic>
      <p:pic>
        <p:nvPicPr>
          <p:cNvPr id="237" name="Image 12" descr="preencoded.png"/>
          <p:cNvPicPr/>
          <p:nvPr/>
        </p:nvPicPr>
        <p:blipFill>
          <a:blip r:embed="rId13"/>
          <a:stretch/>
        </p:blipFill>
        <p:spPr>
          <a:xfrm>
            <a:off x="647640" y="4964760"/>
            <a:ext cx="142560" cy="190080"/>
          </a:xfrm>
          <a:prstGeom prst="rect">
            <a:avLst/>
          </a:prstGeom>
          <a:ln w="0">
            <a:noFill/>
          </a:ln>
        </p:spPr>
      </p:pic>
      <p:pic>
        <p:nvPicPr>
          <p:cNvPr id="238" name="Image 13" descr="preencoded.png"/>
          <p:cNvPicPr/>
          <p:nvPr/>
        </p:nvPicPr>
        <p:blipFill>
          <a:blip r:embed="rId14"/>
          <a:stretch/>
        </p:blipFill>
        <p:spPr>
          <a:xfrm>
            <a:off x="647640" y="5612400"/>
            <a:ext cx="449280" cy="243720"/>
          </a:xfrm>
          <a:prstGeom prst="rect">
            <a:avLst/>
          </a:prstGeom>
          <a:ln w="0">
            <a:noFill/>
          </a:ln>
        </p:spPr>
      </p:pic>
      <p:pic>
        <p:nvPicPr>
          <p:cNvPr id="239" name="Image 14" descr="preencoded.png"/>
          <p:cNvPicPr/>
          <p:nvPr/>
        </p:nvPicPr>
        <p:blipFill>
          <a:blip r:embed="rId15"/>
          <a:stretch/>
        </p:blipFill>
        <p:spPr>
          <a:xfrm>
            <a:off x="1135440" y="5612400"/>
            <a:ext cx="443880" cy="243720"/>
          </a:xfrm>
          <a:prstGeom prst="rect">
            <a:avLst/>
          </a:prstGeom>
          <a:ln w="0">
            <a:noFill/>
          </a:ln>
        </p:spPr>
      </p:pic>
      <p:pic>
        <p:nvPicPr>
          <p:cNvPr id="240" name="Image 15" descr="preencoded.png"/>
          <p:cNvPicPr/>
          <p:nvPr/>
        </p:nvPicPr>
        <p:blipFill>
          <a:blip r:embed="rId16"/>
          <a:stretch/>
        </p:blipFill>
        <p:spPr>
          <a:xfrm>
            <a:off x="1617840" y="5612400"/>
            <a:ext cx="1427760" cy="243720"/>
          </a:xfrm>
          <a:prstGeom prst="rect">
            <a:avLst/>
          </a:prstGeom>
          <a:ln w="0">
            <a:noFill/>
          </a:ln>
        </p:spPr>
      </p:pic>
      <p:pic>
        <p:nvPicPr>
          <p:cNvPr id="241" name="Image 16" descr="preencoded.png"/>
          <p:cNvPicPr/>
          <p:nvPr/>
        </p:nvPicPr>
        <p:blipFill>
          <a:blip r:embed="rId17"/>
          <a:stretch/>
        </p:blipFill>
        <p:spPr>
          <a:xfrm>
            <a:off x="6210360" y="2419200"/>
            <a:ext cx="5676480" cy="3847680"/>
          </a:xfrm>
          <a:prstGeom prst="rect">
            <a:avLst/>
          </a:prstGeom>
          <a:ln w="0">
            <a:noFill/>
          </a:ln>
        </p:spPr>
      </p:pic>
      <p:pic>
        <p:nvPicPr>
          <p:cNvPr id="242" name="Image 17" descr="preencoded.png"/>
          <p:cNvPicPr/>
          <p:nvPr/>
        </p:nvPicPr>
        <p:blipFill>
          <a:blip r:embed="rId18"/>
          <a:stretch/>
        </p:blipFill>
        <p:spPr>
          <a:xfrm>
            <a:off x="6400800" y="2647800"/>
            <a:ext cx="228240" cy="228240"/>
          </a:xfrm>
          <a:prstGeom prst="rect">
            <a:avLst/>
          </a:prstGeom>
          <a:ln w="0">
            <a:noFill/>
          </a:ln>
        </p:spPr>
      </p:pic>
      <p:pic>
        <p:nvPicPr>
          <p:cNvPr id="243" name="Image 18" descr="preencoded.png"/>
          <p:cNvPicPr/>
          <p:nvPr/>
        </p:nvPicPr>
        <p:blipFill>
          <a:blip r:embed="rId19"/>
          <a:stretch/>
        </p:blipFill>
        <p:spPr>
          <a:xfrm>
            <a:off x="6400800" y="3105000"/>
            <a:ext cx="323640" cy="380520"/>
          </a:xfrm>
          <a:prstGeom prst="rect">
            <a:avLst/>
          </a:prstGeom>
          <a:ln w="0">
            <a:noFill/>
          </a:ln>
        </p:spPr>
      </p:pic>
      <p:pic>
        <p:nvPicPr>
          <p:cNvPr id="244" name="Image 19" descr="preencoded.png"/>
          <p:cNvPicPr/>
          <p:nvPr/>
        </p:nvPicPr>
        <p:blipFill>
          <a:blip r:embed="rId20"/>
          <a:stretch/>
        </p:blipFill>
        <p:spPr>
          <a:xfrm>
            <a:off x="6477120" y="3209760"/>
            <a:ext cx="171000" cy="151920"/>
          </a:xfrm>
          <a:prstGeom prst="rect">
            <a:avLst/>
          </a:prstGeom>
          <a:ln w="0">
            <a:noFill/>
          </a:ln>
        </p:spPr>
      </p:pic>
      <p:pic>
        <p:nvPicPr>
          <p:cNvPr id="245" name="Image 20" descr="preencoded.png"/>
          <p:cNvPicPr/>
          <p:nvPr/>
        </p:nvPicPr>
        <p:blipFill>
          <a:blip r:embed="rId21"/>
          <a:stretch/>
        </p:blipFill>
        <p:spPr>
          <a:xfrm>
            <a:off x="6400800" y="3790800"/>
            <a:ext cx="342720" cy="380520"/>
          </a:xfrm>
          <a:prstGeom prst="rect">
            <a:avLst/>
          </a:prstGeom>
          <a:ln w="0">
            <a:noFill/>
          </a:ln>
        </p:spPr>
      </p:pic>
      <p:pic>
        <p:nvPicPr>
          <p:cNvPr id="246" name="Image 21" descr="preencoded.png"/>
          <p:cNvPicPr/>
          <p:nvPr/>
        </p:nvPicPr>
        <p:blipFill>
          <a:blip r:embed="rId22"/>
          <a:stretch/>
        </p:blipFill>
        <p:spPr>
          <a:xfrm>
            <a:off x="6477120" y="3895560"/>
            <a:ext cx="190080" cy="151920"/>
          </a:xfrm>
          <a:prstGeom prst="rect">
            <a:avLst/>
          </a:prstGeom>
          <a:ln w="0">
            <a:noFill/>
          </a:ln>
        </p:spPr>
      </p:pic>
      <p:pic>
        <p:nvPicPr>
          <p:cNvPr id="247" name="Image 22" descr="preencoded.png"/>
          <p:cNvPicPr/>
          <p:nvPr/>
        </p:nvPicPr>
        <p:blipFill>
          <a:blip r:embed="rId23"/>
          <a:stretch/>
        </p:blipFill>
        <p:spPr>
          <a:xfrm>
            <a:off x="6400800" y="4705200"/>
            <a:ext cx="323640" cy="380520"/>
          </a:xfrm>
          <a:prstGeom prst="rect">
            <a:avLst/>
          </a:prstGeom>
          <a:ln w="0">
            <a:noFill/>
          </a:ln>
        </p:spPr>
      </p:pic>
      <p:pic>
        <p:nvPicPr>
          <p:cNvPr id="248" name="Image 23" descr="preencoded.png"/>
          <p:cNvPicPr/>
          <p:nvPr/>
        </p:nvPicPr>
        <p:blipFill>
          <a:blip r:embed="rId24"/>
          <a:stretch/>
        </p:blipFill>
        <p:spPr>
          <a:xfrm>
            <a:off x="6477120" y="4809960"/>
            <a:ext cx="171000" cy="151920"/>
          </a:xfrm>
          <a:prstGeom prst="rect">
            <a:avLst/>
          </a:prstGeom>
          <a:ln w="0">
            <a:noFill/>
          </a:ln>
        </p:spPr>
      </p:pic>
      <p:pic>
        <p:nvPicPr>
          <p:cNvPr id="249" name="Image 24" descr="preencoded.png"/>
          <p:cNvPicPr/>
          <p:nvPr/>
        </p:nvPicPr>
        <p:blipFill>
          <a:blip r:embed="rId25"/>
          <a:stretch/>
        </p:blipFill>
        <p:spPr>
          <a:xfrm>
            <a:off x="6400800" y="5391000"/>
            <a:ext cx="304560" cy="380520"/>
          </a:xfrm>
          <a:prstGeom prst="rect">
            <a:avLst/>
          </a:prstGeom>
          <a:ln w="0">
            <a:noFill/>
          </a:ln>
        </p:spPr>
      </p:pic>
      <p:pic>
        <p:nvPicPr>
          <p:cNvPr id="250" name="Image 25" descr="preencoded.png"/>
          <p:cNvPicPr/>
          <p:nvPr/>
        </p:nvPicPr>
        <p:blipFill>
          <a:blip r:embed="rId26"/>
          <a:stretch/>
        </p:blipFill>
        <p:spPr>
          <a:xfrm>
            <a:off x="6477120" y="549576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251" name="Image 26" descr="preencoded.png"/>
          <p:cNvPicPr/>
          <p:nvPr/>
        </p:nvPicPr>
        <p:blipFill>
          <a:blip r:embed="rId27"/>
          <a:stretch/>
        </p:blipFill>
        <p:spPr>
          <a:xfrm>
            <a:off x="304920" y="6458040"/>
            <a:ext cx="11581920" cy="456840"/>
          </a:xfrm>
          <a:prstGeom prst="rect">
            <a:avLst/>
          </a:prstGeom>
          <a:ln w="0">
            <a:noFill/>
          </a:ln>
        </p:spPr>
      </p:pic>
      <p:pic>
        <p:nvPicPr>
          <p:cNvPr id="252" name="Image 27" descr="preencoded.png"/>
          <p:cNvPicPr/>
          <p:nvPr/>
        </p:nvPicPr>
        <p:blipFill>
          <a:blip r:embed="rId28"/>
          <a:stretch/>
        </p:blipFill>
        <p:spPr>
          <a:xfrm>
            <a:off x="2610720" y="6600960"/>
            <a:ext cx="114120" cy="151920"/>
          </a:xfrm>
          <a:prstGeom prst="rect">
            <a:avLst/>
          </a:prstGeom>
          <a:ln w="0">
            <a:noFill/>
          </a:ln>
        </p:spPr>
      </p:pic>
      <p:sp>
        <p:nvSpPr>
          <p:cNvPr id="253" name="Text 0"/>
          <p:cNvSpPr/>
          <p:nvPr/>
        </p:nvSpPr>
        <p:spPr>
          <a:xfrm>
            <a:off x="380880" y="237960"/>
            <a:ext cx="100396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Feature Engineering and Analytical Metrics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1009800" y="1352520"/>
            <a:ext cx="9426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f2937"/>
                </a:solidFill>
                <a:latin typeface="ui-sans-serif"/>
                <a:ea typeface="ui-sans-serif"/>
              </a:rPr>
              <a:t>Enhancing Analytical Depth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1009800" y="1733400"/>
            <a:ext cx="11312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To improve analysis, we created new variables that capture complex relationships and simplify interpretation.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866880" y="2610000"/>
            <a:ext cx="5295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Derived Metrics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914400" y="3219480"/>
            <a:ext cx="4990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5803d"/>
                </a:solidFill>
                <a:latin typeface="ui-sans-serif"/>
                <a:ea typeface="ui-sans-serif"/>
              </a:rPr>
              <a:t>Obesity Status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647640" y="3562200"/>
            <a:ext cx="5988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Calculated using standard BMI thresholds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723960" y="3905280"/>
            <a:ext cx="1807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166534"/>
                </a:solidFill>
                <a:latin typeface="ui-sans-serif"/>
                <a:ea typeface="ui-sans-serif"/>
              </a:rPr>
              <a:t>Normal: BMI &lt; 25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2268720" y="3905280"/>
            <a:ext cx="2691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854d0e"/>
                </a:solidFill>
                <a:latin typeface="ui-sans-serif"/>
                <a:ea typeface="ui-sans-serif"/>
              </a:rPr>
              <a:t>Overweight: 25 ≤ BMI &lt; 30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723960" y="4187160"/>
            <a:ext cx="1715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991b1b"/>
                </a:solidFill>
                <a:latin typeface="ui-sans-serif"/>
                <a:ea typeface="ui-sans-serif"/>
              </a:rPr>
              <a:t>Obese: BMI ≥ 30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866880" y="4926600"/>
            <a:ext cx="4990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d4ed8"/>
                </a:solidFill>
                <a:latin typeface="ui-sans-serif"/>
                <a:ea typeface="ui-sans-serif"/>
              </a:rPr>
              <a:t>Composite Risk Score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647640" y="5269320"/>
            <a:ext cx="5988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Integrates multiple factors into a single metric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723960" y="5612400"/>
            <a:ext cx="5392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1e40af"/>
                </a:solidFill>
                <a:latin typeface="ui-sans-serif"/>
                <a:ea typeface="ui-sans-serif"/>
              </a:rPr>
              <a:t>Age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1211760" y="5612400"/>
            <a:ext cx="5328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1e40af"/>
                </a:solidFill>
                <a:latin typeface="ui-sans-serif"/>
                <a:ea typeface="ui-sans-serif"/>
              </a:rPr>
              <a:t>BMI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1694160" y="5612400"/>
            <a:ext cx="1713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1e40af"/>
                </a:solidFill>
                <a:latin typeface="ui-sans-serif"/>
                <a:ea typeface="ui-sans-serif"/>
              </a:rPr>
              <a:t>Physical Activity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6743880" y="2610000"/>
            <a:ext cx="5295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Analytical Value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6877080" y="3067200"/>
            <a:ext cx="5635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Multidimensional Risk Capture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6877080" y="3333600"/>
            <a:ext cx="563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Characterizes risk across multiple dimensions simultaneously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6896160" y="3753000"/>
            <a:ext cx="4800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Cross-Group Comparison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6896160" y="401940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Enables meaningful comparisons across diverse population groups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6877080" y="4667400"/>
            <a:ext cx="5655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Cumulative Pattern Interpretation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6877080" y="4933800"/>
            <a:ext cx="5655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Supports understanding of how risks accumulate and interact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1"/>
          <p:cNvSpPr/>
          <p:nvPr/>
        </p:nvSpPr>
        <p:spPr>
          <a:xfrm>
            <a:off x="6858000" y="5353200"/>
            <a:ext cx="4838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Enhanced Detection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6858000" y="5619600"/>
            <a:ext cx="483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Reveals patterns that might be missed by single-factor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-716400" y="6572160"/>
            <a:ext cx="1362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 </a:t>
            </a:r>
            <a:r>
              <a:rPr b="0" i="1" lang="en-US" sz="12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These metrics transform raw data into actionable insights for population health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78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279" name="Image 2" descr="preencoded.png"/>
          <p:cNvPicPr/>
          <p:nvPr/>
        </p:nvPicPr>
        <p:blipFill>
          <a:blip r:embed="rId3"/>
          <a:stretch/>
        </p:blipFill>
        <p:spPr>
          <a:xfrm>
            <a:off x="380880" y="1238400"/>
            <a:ext cx="5486040" cy="5314680"/>
          </a:xfrm>
          <a:prstGeom prst="rect">
            <a:avLst/>
          </a:prstGeom>
          <a:ln w="0">
            <a:noFill/>
          </a:ln>
        </p:spPr>
      </p:pic>
      <p:pic>
        <p:nvPicPr>
          <p:cNvPr id="280" name="Image 3" descr="preencoded.png"/>
          <p:cNvPicPr/>
          <p:nvPr/>
        </p:nvPicPr>
        <p:blipFill>
          <a:blip r:embed="rId4"/>
          <a:stretch/>
        </p:blipFill>
        <p:spPr>
          <a:xfrm>
            <a:off x="609480" y="1924200"/>
            <a:ext cx="5028840" cy="3790440"/>
          </a:xfrm>
          <a:prstGeom prst="rect">
            <a:avLst/>
          </a:prstGeom>
          <a:ln w="0">
            <a:noFill/>
          </a:ln>
        </p:spPr>
      </p:pic>
      <p:pic>
        <p:nvPicPr>
          <p:cNvPr id="281" name="Image 4" descr="preencoded.png"/>
          <p:cNvPicPr/>
          <p:nvPr/>
        </p:nvPicPr>
        <p:blipFill>
          <a:blip r:embed="rId5"/>
          <a:stretch/>
        </p:blipFill>
        <p:spPr>
          <a:xfrm>
            <a:off x="609480" y="5867280"/>
            <a:ext cx="5028840" cy="456840"/>
          </a:xfrm>
          <a:prstGeom prst="rect">
            <a:avLst/>
          </a:prstGeom>
          <a:ln w="0">
            <a:noFill/>
          </a:ln>
        </p:spPr>
      </p:pic>
      <p:pic>
        <p:nvPicPr>
          <p:cNvPr id="282" name="Image 5" descr="preencoded.png"/>
          <p:cNvPicPr/>
          <p:nvPr/>
        </p:nvPicPr>
        <p:blipFill>
          <a:blip r:embed="rId6"/>
          <a:stretch/>
        </p:blipFill>
        <p:spPr>
          <a:xfrm>
            <a:off x="949680" y="601020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283" name="Image 6" descr="preencoded.png"/>
          <p:cNvPicPr/>
          <p:nvPr/>
        </p:nvPicPr>
        <p:blipFill>
          <a:blip r:embed="rId7"/>
          <a:stretch/>
        </p:blipFill>
        <p:spPr>
          <a:xfrm>
            <a:off x="6324480" y="1238400"/>
            <a:ext cx="5486040" cy="1942920"/>
          </a:xfrm>
          <a:prstGeom prst="rect">
            <a:avLst/>
          </a:prstGeom>
          <a:ln w="0">
            <a:noFill/>
          </a:ln>
        </p:spPr>
      </p:pic>
      <p:pic>
        <p:nvPicPr>
          <p:cNvPr id="284" name="Image 7" descr="preencoded.png"/>
          <p:cNvPicPr/>
          <p:nvPr/>
        </p:nvPicPr>
        <p:blipFill>
          <a:blip r:embed="rId8"/>
          <a:stretch/>
        </p:blipFill>
        <p:spPr>
          <a:xfrm>
            <a:off x="6553080" y="196200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285" name="Image 8" descr="preencoded.png"/>
          <p:cNvPicPr/>
          <p:nvPr/>
        </p:nvPicPr>
        <p:blipFill>
          <a:blip r:embed="rId9"/>
          <a:stretch/>
        </p:blipFill>
        <p:spPr>
          <a:xfrm>
            <a:off x="6553080" y="234324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286" name="Image 9" descr="preencoded.png"/>
          <p:cNvPicPr/>
          <p:nvPr/>
        </p:nvPicPr>
        <p:blipFill>
          <a:blip r:embed="rId10"/>
          <a:stretch/>
        </p:blipFill>
        <p:spPr>
          <a:xfrm>
            <a:off x="6553080" y="272412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287" name="Image 10" descr="preencoded.png"/>
          <p:cNvPicPr/>
          <p:nvPr/>
        </p:nvPicPr>
        <p:blipFill>
          <a:blip r:embed="rId11"/>
          <a:stretch/>
        </p:blipFill>
        <p:spPr>
          <a:xfrm>
            <a:off x="6324480" y="3409920"/>
            <a:ext cx="5486040" cy="3123720"/>
          </a:xfrm>
          <a:prstGeom prst="rect">
            <a:avLst/>
          </a:prstGeom>
          <a:ln w="0">
            <a:noFill/>
          </a:ln>
        </p:spPr>
      </p:pic>
      <p:pic>
        <p:nvPicPr>
          <p:cNvPr id="288" name="Image 11" descr="preencoded.png"/>
          <p:cNvPicPr/>
          <p:nvPr/>
        </p:nvPicPr>
        <p:blipFill>
          <a:blip r:embed="rId12"/>
          <a:stretch/>
        </p:blipFill>
        <p:spPr>
          <a:xfrm>
            <a:off x="6553080" y="4095720"/>
            <a:ext cx="5028840" cy="1028520"/>
          </a:xfrm>
          <a:prstGeom prst="rect">
            <a:avLst/>
          </a:prstGeom>
          <a:ln w="0">
            <a:noFill/>
          </a:ln>
        </p:spPr>
      </p:pic>
      <p:pic>
        <p:nvPicPr>
          <p:cNvPr id="289" name="Image 12" descr="preencoded.png"/>
          <p:cNvPicPr/>
          <p:nvPr/>
        </p:nvPicPr>
        <p:blipFill>
          <a:blip r:embed="rId13"/>
          <a:stretch/>
        </p:blipFill>
        <p:spPr>
          <a:xfrm>
            <a:off x="6705720" y="429588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290" name="Image 13" descr="preencoded.png"/>
          <p:cNvPicPr/>
          <p:nvPr/>
        </p:nvPicPr>
        <p:blipFill>
          <a:blip r:embed="rId14"/>
          <a:stretch/>
        </p:blipFill>
        <p:spPr>
          <a:xfrm>
            <a:off x="6553080" y="5276880"/>
            <a:ext cx="5028840" cy="1028520"/>
          </a:xfrm>
          <a:prstGeom prst="rect">
            <a:avLst/>
          </a:prstGeom>
          <a:ln w="0">
            <a:noFill/>
          </a:ln>
        </p:spPr>
      </p:pic>
      <p:pic>
        <p:nvPicPr>
          <p:cNvPr id="291" name="Image 14" descr="preencoded.png"/>
          <p:cNvPicPr/>
          <p:nvPr/>
        </p:nvPicPr>
        <p:blipFill>
          <a:blip r:embed="rId15"/>
          <a:stretch/>
        </p:blipFill>
        <p:spPr>
          <a:xfrm>
            <a:off x="6705720" y="547704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292" name="Text 0"/>
          <p:cNvSpPr/>
          <p:nvPr/>
        </p:nvSpPr>
        <p:spPr>
          <a:xfrm>
            <a:off x="380880" y="237960"/>
            <a:ext cx="9154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Age Structure and Diabetes Prevalence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609480" y="1467000"/>
            <a:ext cx="6034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Prevalence by Age Group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2"/>
          <p:cNvSpPr/>
          <p:nvPr/>
        </p:nvSpPr>
        <p:spPr>
          <a:xfrm>
            <a:off x="243720" y="5981760"/>
            <a:ext cx="5760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 </a:t>
            </a:r>
            <a:r>
              <a:rPr b="0" i="1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Trend shows increasing diabetes prevalence with 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3"/>
          <p:cNvSpPr/>
          <p:nvPr/>
        </p:nvSpPr>
        <p:spPr>
          <a:xfrm>
            <a:off x="6553080" y="1467000"/>
            <a:ext cx="5028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Observed Patterns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4"/>
          <p:cNvSpPr/>
          <p:nvPr/>
        </p:nvSpPr>
        <p:spPr>
          <a:xfrm>
            <a:off x="6819840" y="1924200"/>
            <a:ext cx="4789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Lowest prevalence among younger individuals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6819840" y="2305080"/>
            <a:ext cx="4597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Gradual increase across middle-aged groups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6819840" y="2685960"/>
            <a:ext cx="4650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Marked increase among older age categories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7"/>
          <p:cNvSpPr/>
          <p:nvPr/>
        </p:nvSpPr>
        <p:spPr>
          <a:xfrm>
            <a:off x="6553080" y="3638520"/>
            <a:ext cx="6034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Key Interpretations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8"/>
          <p:cNvSpPr/>
          <p:nvPr/>
        </p:nvSpPr>
        <p:spPr>
          <a:xfrm>
            <a:off x="6953400" y="4248000"/>
            <a:ext cx="4723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Risk Accumulation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9"/>
          <p:cNvSpPr/>
          <p:nvPr/>
        </p:nvSpPr>
        <p:spPr>
          <a:xfrm>
            <a:off x="6705720" y="4514760"/>
            <a:ext cx="472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Diabetes risk accumulates over time due to prolonged exposure to metabolic stressors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10"/>
          <p:cNvSpPr/>
          <p:nvPr/>
        </p:nvSpPr>
        <p:spPr>
          <a:xfrm>
            <a:off x="6953400" y="5429160"/>
            <a:ext cx="4723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Amplification Effect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11"/>
          <p:cNvSpPr/>
          <p:nvPr/>
        </p:nvSpPr>
        <p:spPr>
          <a:xfrm>
            <a:off x="6705720" y="5695920"/>
            <a:ext cx="472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Age amplifies the impact of other risk variables such as BMI and physical inactivity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05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306" name="Image 2" descr="preencoded.png"/>
          <p:cNvPicPr/>
          <p:nvPr/>
        </p:nvPicPr>
        <p:blipFill>
          <a:blip r:embed="rId3"/>
          <a:stretch/>
        </p:blipFill>
        <p:spPr>
          <a:xfrm>
            <a:off x="304920" y="1162080"/>
            <a:ext cx="6626520" cy="5505120"/>
          </a:xfrm>
          <a:prstGeom prst="rect">
            <a:avLst/>
          </a:prstGeom>
          <a:ln w="0">
            <a:noFill/>
          </a:ln>
        </p:spPr>
      </p:pic>
      <p:pic>
        <p:nvPicPr>
          <p:cNvPr id="307" name="Image 3" descr="preencoded.png"/>
          <p:cNvPicPr/>
          <p:nvPr/>
        </p:nvPicPr>
        <p:blipFill>
          <a:blip r:embed="rId4"/>
          <a:stretch/>
        </p:blipFill>
        <p:spPr>
          <a:xfrm>
            <a:off x="533520" y="184788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308" name="Image 4" descr="preencoded.png"/>
          <p:cNvPicPr/>
          <p:nvPr/>
        </p:nvPicPr>
        <p:blipFill>
          <a:blip r:embed="rId5"/>
          <a:stretch/>
        </p:blipFill>
        <p:spPr>
          <a:xfrm>
            <a:off x="647640" y="196200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309" name="Image 5" descr="preencoded.png"/>
          <p:cNvPicPr/>
          <p:nvPr/>
        </p:nvPicPr>
        <p:blipFill>
          <a:blip r:embed="rId6"/>
          <a:stretch/>
        </p:blipFill>
        <p:spPr>
          <a:xfrm>
            <a:off x="533520" y="253368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310" name="Image 6" descr="preencoded.png"/>
          <p:cNvPicPr/>
          <p:nvPr/>
        </p:nvPicPr>
        <p:blipFill>
          <a:blip r:embed="rId7"/>
          <a:stretch/>
        </p:blipFill>
        <p:spPr>
          <a:xfrm>
            <a:off x="628560" y="2647800"/>
            <a:ext cx="190080" cy="151920"/>
          </a:xfrm>
          <a:prstGeom prst="rect">
            <a:avLst/>
          </a:prstGeom>
          <a:ln w="0">
            <a:noFill/>
          </a:ln>
        </p:spPr>
      </p:pic>
      <p:pic>
        <p:nvPicPr>
          <p:cNvPr id="311" name="Image 7" descr="preencoded.png"/>
          <p:cNvPicPr/>
          <p:nvPr/>
        </p:nvPicPr>
        <p:blipFill>
          <a:blip r:embed="rId8"/>
          <a:stretch/>
        </p:blipFill>
        <p:spPr>
          <a:xfrm>
            <a:off x="533520" y="321948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312" name="Image 8" descr="preencoded.png"/>
          <p:cNvPicPr/>
          <p:nvPr/>
        </p:nvPicPr>
        <p:blipFill>
          <a:blip r:embed="rId9"/>
          <a:stretch/>
        </p:blipFill>
        <p:spPr>
          <a:xfrm>
            <a:off x="647640" y="333360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313" name="Image 9" descr="preencoded.png"/>
          <p:cNvPicPr/>
          <p:nvPr/>
        </p:nvPicPr>
        <p:blipFill>
          <a:blip r:embed="rId10"/>
          <a:stretch/>
        </p:blipFill>
        <p:spPr>
          <a:xfrm>
            <a:off x="533520" y="4362480"/>
            <a:ext cx="6169320" cy="1827720"/>
          </a:xfrm>
          <a:prstGeom prst="rect">
            <a:avLst/>
          </a:prstGeom>
          <a:ln w="0">
            <a:noFill/>
          </a:ln>
        </p:spPr>
      </p:pic>
      <p:pic>
        <p:nvPicPr>
          <p:cNvPr id="314" name="Image 10" descr="preencoded.png"/>
          <p:cNvPicPr/>
          <p:nvPr/>
        </p:nvPicPr>
        <p:blipFill>
          <a:blip r:embed="rId11"/>
          <a:stretch/>
        </p:blipFill>
        <p:spPr>
          <a:xfrm>
            <a:off x="7160400" y="1162080"/>
            <a:ext cx="4726440" cy="3600000"/>
          </a:xfrm>
          <a:prstGeom prst="rect">
            <a:avLst/>
          </a:prstGeom>
          <a:ln w="0">
            <a:noFill/>
          </a:ln>
        </p:spPr>
      </p:pic>
      <p:pic>
        <p:nvPicPr>
          <p:cNvPr id="315" name="Image 11" descr="preencoded.png"/>
          <p:cNvPicPr/>
          <p:nvPr/>
        </p:nvPicPr>
        <p:blipFill>
          <a:blip r:embed="rId12"/>
          <a:stretch/>
        </p:blipFill>
        <p:spPr>
          <a:xfrm>
            <a:off x="7350840" y="1809720"/>
            <a:ext cx="4345560" cy="818640"/>
          </a:xfrm>
          <a:prstGeom prst="rect">
            <a:avLst/>
          </a:prstGeom>
          <a:ln w="0">
            <a:noFill/>
          </a:ln>
        </p:spPr>
      </p:pic>
      <p:pic>
        <p:nvPicPr>
          <p:cNvPr id="316" name="Image 12" descr="preencoded.png"/>
          <p:cNvPicPr/>
          <p:nvPr/>
        </p:nvPicPr>
        <p:blipFill>
          <a:blip r:embed="rId13"/>
          <a:stretch/>
        </p:blipFill>
        <p:spPr>
          <a:xfrm>
            <a:off x="7465320" y="199080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317" name="Image 13" descr="preencoded.png"/>
          <p:cNvPicPr/>
          <p:nvPr/>
        </p:nvPicPr>
        <p:blipFill>
          <a:blip r:embed="rId14"/>
          <a:stretch/>
        </p:blipFill>
        <p:spPr>
          <a:xfrm>
            <a:off x="7598520" y="2085840"/>
            <a:ext cx="190080" cy="266400"/>
          </a:xfrm>
          <a:prstGeom prst="rect">
            <a:avLst/>
          </a:prstGeom>
          <a:ln w="0">
            <a:noFill/>
          </a:ln>
        </p:spPr>
      </p:pic>
      <p:pic>
        <p:nvPicPr>
          <p:cNvPr id="318" name="Image 14" descr="preencoded.png"/>
          <p:cNvPicPr/>
          <p:nvPr/>
        </p:nvPicPr>
        <p:blipFill>
          <a:blip r:embed="rId15"/>
          <a:stretch/>
        </p:blipFill>
        <p:spPr>
          <a:xfrm>
            <a:off x="8036640" y="2228760"/>
            <a:ext cx="3545280" cy="285480"/>
          </a:xfrm>
          <a:prstGeom prst="rect">
            <a:avLst/>
          </a:prstGeom>
          <a:ln w="0">
            <a:noFill/>
          </a:ln>
        </p:spPr>
      </p:pic>
      <p:pic>
        <p:nvPicPr>
          <p:cNvPr id="319" name="Image 15" descr="preencoded.png"/>
          <p:cNvPicPr/>
          <p:nvPr/>
        </p:nvPicPr>
        <p:blipFill>
          <a:blip r:embed="rId16"/>
          <a:stretch/>
        </p:blipFill>
        <p:spPr>
          <a:xfrm>
            <a:off x="8036640" y="2228760"/>
            <a:ext cx="708480" cy="285480"/>
          </a:xfrm>
          <a:prstGeom prst="rect">
            <a:avLst/>
          </a:prstGeom>
          <a:ln w="0">
            <a:noFill/>
          </a:ln>
        </p:spPr>
      </p:pic>
      <p:pic>
        <p:nvPicPr>
          <p:cNvPr id="320" name="Image 16" descr="preencoded.png"/>
          <p:cNvPicPr/>
          <p:nvPr/>
        </p:nvPicPr>
        <p:blipFill>
          <a:blip r:embed="rId17"/>
          <a:stretch/>
        </p:blipFill>
        <p:spPr>
          <a:xfrm>
            <a:off x="7350840" y="2781360"/>
            <a:ext cx="4345560" cy="818640"/>
          </a:xfrm>
          <a:prstGeom prst="rect">
            <a:avLst/>
          </a:prstGeom>
          <a:ln w="0">
            <a:noFill/>
          </a:ln>
        </p:spPr>
      </p:pic>
      <p:pic>
        <p:nvPicPr>
          <p:cNvPr id="321" name="Image 17" descr="preencoded.png"/>
          <p:cNvPicPr/>
          <p:nvPr/>
        </p:nvPicPr>
        <p:blipFill>
          <a:blip r:embed="rId18"/>
          <a:stretch/>
        </p:blipFill>
        <p:spPr>
          <a:xfrm>
            <a:off x="7465320" y="296244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322" name="Image 18" descr="preencoded.png"/>
          <p:cNvPicPr/>
          <p:nvPr/>
        </p:nvPicPr>
        <p:blipFill>
          <a:blip r:embed="rId19"/>
          <a:stretch/>
        </p:blipFill>
        <p:spPr>
          <a:xfrm>
            <a:off x="7598520" y="3057480"/>
            <a:ext cx="190080" cy="266400"/>
          </a:xfrm>
          <a:prstGeom prst="rect">
            <a:avLst/>
          </a:prstGeom>
          <a:ln w="0">
            <a:noFill/>
          </a:ln>
        </p:spPr>
      </p:pic>
      <p:pic>
        <p:nvPicPr>
          <p:cNvPr id="323" name="Image 19" descr="preencoded.png"/>
          <p:cNvPicPr/>
          <p:nvPr/>
        </p:nvPicPr>
        <p:blipFill>
          <a:blip r:embed="rId20"/>
          <a:stretch/>
        </p:blipFill>
        <p:spPr>
          <a:xfrm>
            <a:off x="8036640" y="3200400"/>
            <a:ext cx="3545280" cy="285480"/>
          </a:xfrm>
          <a:prstGeom prst="rect">
            <a:avLst/>
          </a:prstGeom>
          <a:ln w="0">
            <a:noFill/>
          </a:ln>
        </p:spPr>
      </p:pic>
      <p:pic>
        <p:nvPicPr>
          <p:cNvPr id="324" name="Image 20" descr="preencoded.png"/>
          <p:cNvPicPr/>
          <p:nvPr/>
        </p:nvPicPr>
        <p:blipFill>
          <a:blip r:embed="rId21"/>
          <a:stretch/>
        </p:blipFill>
        <p:spPr>
          <a:xfrm>
            <a:off x="8036640" y="3200400"/>
            <a:ext cx="2126880" cy="285480"/>
          </a:xfrm>
          <a:prstGeom prst="rect">
            <a:avLst/>
          </a:prstGeom>
          <a:ln w="0">
            <a:noFill/>
          </a:ln>
        </p:spPr>
      </p:pic>
      <p:pic>
        <p:nvPicPr>
          <p:cNvPr id="325" name="Image 21" descr="preencoded.png"/>
          <p:cNvPicPr/>
          <p:nvPr/>
        </p:nvPicPr>
        <p:blipFill>
          <a:blip r:embed="rId22"/>
          <a:stretch/>
        </p:blipFill>
        <p:spPr>
          <a:xfrm>
            <a:off x="7350840" y="3753000"/>
            <a:ext cx="4345560" cy="818640"/>
          </a:xfrm>
          <a:prstGeom prst="rect">
            <a:avLst/>
          </a:prstGeom>
          <a:ln w="0">
            <a:noFill/>
          </a:ln>
        </p:spPr>
      </p:pic>
      <p:pic>
        <p:nvPicPr>
          <p:cNvPr id="326" name="Image 22" descr="preencoded.png"/>
          <p:cNvPicPr/>
          <p:nvPr/>
        </p:nvPicPr>
        <p:blipFill>
          <a:blip r:embed="rId23"/>
          <a:stretch/>
        </p:blipFill>
        <p:spPr>
          <a:xfrm>
            <a:off x="7465320" y="393372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327" name="Image 23" descr="preencoded.png"/>
          <p:cNvPicPr/>
          <p:nvPr/>
        </p:nvPicPr>
        <p:blipFill>
          <a:blip r:embed="rId24"/>
          <a:stretch/>
        </p:blipFill>
        <p:spPr>
          <a:xfrm>
            <a:off x="7574760" y="4029120"/>
            <a:ext cx="237600" cy="266400"/>
          </a:xfrm>
          <a:prstGeom prst="rect">
            <a:avLst/>
          </a:prstGeom>
          <a:ln w="0">
            <a:noFill/>
          </a:ln>
        </p:spPr>
      </p:pic>
      <p:pic>
        <p:nvPicPr>
          <p:cNvPr id="328" name="Image 24" descr="preencoded.png"/>
          <p:cNvPicPr/>
          <p:nvPr/>
        </p:nvPicPr>
        <p:blipFill>
          <a:blip r:embed="rId25"/>
          <a:stretch/>
        </p:blipFill>
        <p:spPr>
          <a:xfrm>
            <a:off x="8036640" y="4172040"/>
            <a:ext cx="3545280" cy="285480"/>
          </a:xfrm>
          <a:prstGeom prst="rect">
            <a:avLst/>
          </a:prstGeom>
          <a:ln w="0">
            <a:noFill/>
          </a:ln>
        </p:spPr>
      </p:pic>
      <p:pic>
        <p:nvPicPr>
          <p:cNvPr id="329" name="Image 25" descr="preencoded.png"/>
          <p:cNvPicPr/>
          <p:nvPr/>
        </p:nvPicPr>
        <p:blipFill>
          <a:blip r:embed="rId26"/>
          <a:stretch/>
        </p:blipFill>
        <p:spPr>
          <a:xfrm>
            <a:off x="8036640" y="4172040"/>
            <a:ext cx="3190680" cy="285480"/>
          </a:xfrm>
          <a:prstGeom prst="rect">
            <a:avLst/>
          </a:prstGeom>
          <a:ln w="0">
            <a:noFill/>
          </a:ln>
        </p:spPr>
      </p:pic>
      <p:pic>
        <p:nvPicPr>
          <p:cNvPr id="330" name="Image 26" descr="preencoded.png"/>
          <p:cNvPicPr/>
          <p:nvPr/>
        </p:nvPicPr>
        <p:blipFill>
          <a:blip r:embed="rId27"/>
          <a:stretch/>
        </p:blipFill>
        <p:spPr>
          <a:xfrm>
            <a:off x="7160400" y="4952880"/>
            <a:ext cx="4726440" cy="1714320"/>
          </a:xfrm>
          <a:prstGeom prst="rect">
            <a:avLst/>
          </a:prstGeom>
          <a:ln w="0">
            <a:noFill/>
          </a:ln>
        </p:spPr>
      </p:pic>
      <p:pic>
        <p:nvPicPr>
          <p:cNvPr id="331" name="Image 27" descr="preencoded.png"/>
          <p:cNvPicPr/>
          <p:nvPr/>
        </p:nvPicPr>
        <p:blipFill>
          <a:blip r:embed="rId28"/>
          <a:stretch/>
        </p:blipFill>
        <p:spPr>
          <a:xfrm>
            <a:off x="7350840" y="5600880"/>
            <a:ext cx="171000" cy="304560"/>
          </a:xfrm>
          <a:prstGeom prst="rect">
            <a:avLst/>
          </a:prstGeom>
          <a:ln w="0">
            <a:noFill/>
          </a:ln>
        </p:spPr>
      </p:pic>
      <p:sp>
        <p:nvSpPr>
          <p:cNvPr id="332" name="Text 0"/>
          <p:cNvSpPr/>
          <p:nvPr/>
        </p:nvSpPr>
        <p:spPr>
          <a:xfrm>
            <a:off x="380880" y="237960"/>
            <a:ext cx="10663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BMI Distribution and Weight-Related Patterns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533520" y="1390680"/>
            <a:ext cx="74034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Key Observ observations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1066680" y="1847880"/>
            <a:ext cx="4986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Progressive Increase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1066680" y="2114640"/>
            <a:ext cx="598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Diabetes prevalence increases progressively across all BMI levels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1066680" y="2533680"/>
            <a:ext cx="5472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Population Distribution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1066680" y="2800440"/>
            <a:ext cx="547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High concentration in overweight and obese BMI categories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1066680" y="3219480"/>
            <a:ext cx="4636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Higher Vulnerability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7"/>
          <p:cNvSpPr/>
          <p:nvPr/>
        </p:nvSpPr>
        <p:spPr>
          <a:xfrm>
            <a:off x="1066680" y="3486240"/>
            <a:ext cx="556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Higher BMI categories show greater vulnerability to diabetes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8"/>
          <p:cNvSpPr/>
          <p:nvPr/>
        </p:nvSpPr>
        <p:spPr>
          <a:xfrm>
            <a:off x="533520" y="3943440"/>
            <a:ext cx="74034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Visualization of BMI Patterns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9"/>
          <p:cNvSpPr/>
          <p:nvPr/>
        </p:nvSpPr>
        <p:spPr>
          <a:xfrm>
            <a:off x="7350840" y="1352520"/>
            <a:ext cx="4345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BMI Categories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8036640" y="1924200"/>
            <a:ext cx="3545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40af"/>
                </a:solidFill>
                <a:latin typeface="ui-sans-serif"/>
                <a:ea typeface="ui-sans-serif"/>
              </a:rPr>
              <a:t>Normal Weight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11"/>
          <p:cNvSpPr/>
          <p:nvPr/>
        </p:nvSpPr>
        <p:spPr>
          <a:xfrm>
            <a:off x="8036640" y="2895480"/>
            <a:ext cx="3545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54d0e"/>
                </a:solidFill>
                <a:latin typeface="ui-sans-serif"/>
                <a:ea typeface="ui-sans-serif"/>
              </a:rPr>
              <a:t>Overweight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8036640" y="3867120"/>
            <a:ext cx="3545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91b1b"/>
                </a:solidFill>
                <a:latin typeface="ui-sans-serif"/>
                <a:ea typeface="ui-sans-serif"/>
              </a:rPr>
              <a:t>Obese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3"/>
          <p:cNvSpPr/>
          <p:nvPr/>
        </p:nvSpPr>
        <p:spPr>
          <a:xfrm>
            <a:off x="7350840" y="5143680"/>
            <a:ext cx="4345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Interpretation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4"/>
          <p:cNvSpPr/>
          <p:nvPr/>
        </p:nvSpPr>
        <p:spPr>
          <a:xfrm>
            <a:off x="7636680" y="5562720"/>
            <a:ext cx="405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These findings highlight the role of excess body weight in metabolic dysregulation. Higher BMI categories show greater vulnerability to diabetes, especially when combined with other risk factors.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48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349" name="Image 2" descr="preencoded.png"/>
          <p:cNvPicPr/>
          <p:nvPr/>
        </p:nvPicPr>
        <p:blipFill>
          <a:blip r:embed="rId3"/>
          <a:stretch/>
        </p:blipFill>
        <p:spPr>
          <a:xfrm>
            <a:off x="380880" y="1238400"/>
            <a:ext cx="5486040" cy="5238360"/>
          </a:xfrm>
          <a:prstGeom prst="rect">
            <a:avLst/>
          </a:prstGeom>
          <a:ln w="0">
            <a:noFill/>
          </a:ln>
        </p:spPr>
      </p:pic>
      <p:pic>
        <p:nvPicPr>
          <p:cNvPr id="350" name="Image 3" descr="preencoded.png"/>
          <p:cNvPicPr/>
          <p:nvPr/>
        </p:nvPicPr>
        <p:blipFill>
          <a:blip r:embed="rId4"/>
          <a:stretch/>
        </p:blipFill>
        <p:spPr>
          <a:xfrm>
            <a:off x="609480" y="1924200"/>
            <a:ext cx="5028840" cy="1714320"/>
          </a:xfrm>
          <a:prstGeom prst="rect">
            <a:avLst/>
          </a:prstGeom>
          <a:ln w="0">
            <a:noFill/>
          </a:ln>
        </p:spPr>
      </p:pic>
      <p:pic>
        <p:nvPicPr>
          <p:cNvPr id="351" name="Image 4" descr="preencoded.png"/>
          <p:cNvPicPr/>
          <p:nvPr/>
        </p:nvPicPr>
        <p:blipFill>
          <a:blip r:embed="rId5"/>
          <a:stretch/>
        </p:blipFill>
        <p:spPr>
          <a:xfrm>
            <a:off x="609480" y="4324320"/>
            <a:ext cx="1574280" cy="1923840"/>
          </a:xfrm>
          <a:prstGeom prst="rect">
            <a:avLst/>
          </a:prstGeom>
          <a:ln w="0">
            <a:noFill/>
          </a:ln>
        </p:spPr>
      </p:pic>
      <p:pic>
        <p:nvPicPr>
          <p:cNvPr id="352" name="Image 5" descr="preencoded.png"/>
          <p:cNvPicPr/>
          <p:nvPr/>
        </p:nvPicPr>
        <p:blipFill>
          <a:blip r:embed="rId6"/>
          <a:stretch/>
        </p:blipFill>
        <p:spPr>
          <a:xfrm>
            <a:off x="1216080" y="4476600"/>
            <a:ext cx="361440" cy="342720"/>
          </a:xfrm>
          <a:prstGeom prst="rect">
            <a:avLst/>
          </a:prstGeom>
          <a:ln w="0">
            <a:noFill/>
          </a:ln>
        </p:spPr>
      </p:pic>
      <p:pic>
        <p:nvPicPr>
          <p:cNvPr id="353" name="Image 6" descr="preencoded.png"/>
          <p:cNvPicPr/>
          <p:nvPr/>
        </p:nvPicPr>
        <p:blipFill>
          <a:blip r:embed="rId7"/>
          <a:stretch/>
        </p:blipFill>
        <p:spPr>
          <a:xfrm>
            <a:off x="762120" y="5276880"/>
            <a:ext cx="1269720" cy="95040"/>
          </a:xfrm>
          <a:prstGeom prst="rect">
            <a:avLst/>
          </a:prstGeom>
          <a:ln w="0">
            <a:noFill/>
          </a:ln>
        </p:spPr>
      </p:pic>
      <p:pic>
        <p:nvPicPr>
          <p:cNvPr id="354" name="Image 7" descr="preencoded.png"/>
          <p:cNvPicPr/>
          <p:nvPr/>
        </p:nvPicPr>
        <p:blipFill>
          <a:blip r:embed="rId8"/>
          <a:stretch/>
        </p:blipFill>
        <p:spPr>
          <a:xfrm>
            <a:off x="762120" y="5276880"/>
            <a:ext cx="1015560" cy="95040"/>
          </a:xfrm>
          <a:prstGeom prst="rect">
            <a:avLst/>
          </a:prstGeom>
          <a:ln w="0">
            <a:noFill/>
          </a:ln>
        </p:spPr>
      </p:pic>
      <p:pic>
        <p:nvPicPr>
          <p:cNvPr id="355" name="Image 8" descr="preencoded.png"/>
          <p:cNvPicPr/>
          <p:nvPr/>
        </p:nvPicPr>
        <p:blipFill>
          <a:blip r:embed="rId9"/>
          <a:stretch/>
        </p:blipFill>
        <p:spPr>
          <a:xfrm>
            <a:off x="2336760" y="4324320"/>
            <a:ext cx="1574280" cy="1923840"/>
          </a:xfrm>
          <a:prstGeom prst="rect">
            <a:avLst/>
          </a:prstGeom>
          <a:ln w="0">
            <a:noFill/>
          </a:ln>
        </p:spPr>
      </p:pic>
      <p:pic>
        <p:nvPicPr>
          <p:cNvPr id="356" name="Image 9" descr="preencoded.png"/>
          <p:cNvPicPr/>
          <p:nvPr/>
        </p:nvPicPr>
        <p:blipFill>
          <a:blip r:embed="rId10"/>
          <a:stretch/>
        </p:blipFill>
        <p:spPr>
          <a:xfrm>
            <a:off x="3033720" y="4476600"/>
            <a:ext cx="180720" cy="342720"/>
          </a:xfrm>
          <a:prstGeom prst="rect">
            <a:avLst/>
          </a:prstGeom>
          <a:ln w="0">
            <a:noFill/>
          </a:ln>
        </p:spPr>
      </p:pic>
      <p:pic>
        <p:nvPicPr>
          <p:cNvPr id="357" name="Image 10" descr="preencoded.png"/>
          <p:cNvPicPr/>
          <p:nvPr/>
        </p:nvPicPr>
        <p:blipFill>
          <a:blip r:embed="rId11"/>
          <a:stretch/>
        </p:blipFill>
        <p:spPr>
          <a:xfrm>
            <a:off x="2489040" y="5543640"/>
            <a:ext cx="1269720" cy="95040"/>
          </a:xfrm>
          <a:prstGeom prst="rect">
            <a:avLst/>
          </a:prstGeom>
          <a:ln w="0">
            <a:noFill/>
          </a:ln>
        </p:spPr>
      </p:pic>
      <p:pic>
        <p:nvPicPr>
          <p:cNvPr id="358" name="Image 11" descr="preencoded.png"/>
          <p:cNvPicPr/>
          <p:nvPr/>
        </p:nvPicPr>
        <p:blipFill>
          <a:blip r:embed="rId12"/>
          <a:stretch/>
        </p:blipFill>
        <p:spPr>
          <a:xfrm>
            <a:off x="2489040" y="5543640"/>
            <a:ext cx="634680" cy="95040"/>
          </a:xfrm>
          <a:prstGeom prst="rect">
            <a:avLst/>
          </a:prstGeom>
          <a:ln w="0">
            <a:noFill/>
          </a:ln>
        </p:spPr>
      </p:pic>
      <p:pic>
        <p:nvPicPr>
          <p:cNvPr id="359" name="Image 12" descr="preencoded.png"/>
          <p:cNvPicPr/>
          <p:nvPr/>
        </p:nvPicPr>
        <p:blipFill>
          <a:blip r:embed="rId13"/>
          <a:stretch/>
        </p:blipFill>
        <p:spPr>
          <a:xfrm>
            <a:off x="4064040" y="4324320"/>
            <a:ext cx="1574280" cy="1923840"/>
          </a:xfrm>
          <a:prstGeom prst="rect">
            <a:avLst/>
          </a:prstGeom>
          <a:ln w="0">
            <a:noFill/>
          </a:ln>
        </p:spPr>
      </p:pic>
      <p:pic>
        <p:nvPicPr>
          <p:cNvPr id="360" name="Image 13" descr="preencoded.png"/>
          <p:cNvPicPr/>
          <p:nvPr/>
        </p:nvPicPr>
        <p:blipFill>
          <a:blip r:embed="rId14"/>
          <a:stretch/>
        </p:blipFill>
        <p:spPr>
          <a:xfrm>
            <a:off x="4727520" y="4476600"/>
            <a:ext cx="247320" cy="342720"/>
          </a:xfrm>
          <a:prstGeom prst="rect">
            <a:avLst/>
          </a:prstGeom>
          <a:ln w="0">
            <a:noFill/>
          </a:ln>
        </p:spPr>
      </p:pic>
      <p:pic>
        <p:nvPicPr>
          <p:cNvPr id="361" name="Image 14" descr="preencoded.png"/>
          <p:cNvPicPr/>
          <p:nvPr/>
        </p:nvPicPr>
        <p:blipFill>
          <a:blip r:embed="rId15"/>
          <a:stretch/>
        </p:blipFill>
        <p:spPr>
          <a:xfrm>
            <a:off x="4216320" y="5276880"/>
            <a:ext cx="1269720" cy="95040"/>
          </a:xfrm>
          <a:prstGeom prst="rect">
            <a:avLst/>
          </a:prstGeom>
          <a:ln w="0">
            <a:noFill/>
          </a:ln>
        </p:spPr>
      </p:pic>
      <p:pic>
        <p:nvPicPr>
          <p:cNvPr id="362" name="Image 15" descr="preencoded.png"/>
          <p:cNvPicPr/>
          <p:nvPr/>
        </p:nvPicPr>
        <p:blipFill>
          <a:blip r:embed="rId16"/>
          <a:stretch/>
        </p:blipFill>
        <p:spPr>
          <a:xfrm>
            <a:off x="4216320" y="5276880"/>
            <a:ext cx="253440" cy="95040"/>
          </a:xfrm>
          <a:prstGeom prst="rect">
            <a:avLst/>
          </a:prstGeom>
          <a:ln w="0">
            <a:noFill/>
          </a:ln>
        </p:spPr>
      </p:pic>
      <p:pic>
        <p:nvPicPr>
          <p:cNvPr id="363" name="Image 16" descr="preencoded.png"/>
          <p:cNvPicPr/>
          <p:nvPr/>
        </p:nvPicPr>
        <p:blipFill>
          <a:blip r:embed="rId17"/>
          <a:stretch/>
        </p:blipFill>
        <p:spPr>
          <a:xfrm>
            <a:off x="6324480" y="1238400"/>
            <a:ext cx="5486040" cy="2133360"/>
          </a:xfrm>
          <a:prstGeom prst="rect">
            <a:avLst/>
          </a:prstGeom>
          <a:ln w="0">
            <a:noFill/>
          </a:ln>
        </p:spPr>
      </p:pic>
      <p:pic>
        <p:nvPicPr>
          <p:cNvPr id="364" name="Image 17" descr="preencoded.png"/>
          <p:cNvPicPr/>
          <p:nvPr/>
        </p:nvPicPr>
        <p:blipFill>
          <a:blip r:embed="rId18"/>
          <a:stretch/>
        </p:blipFill>
        <p:spPr>
          <a:xfrm>
            <a:off x="6553080" y="1962000"/>
            <a:ext cx="190080" cy="171000"/>
          </a:xfrm>
          <a:prstGeom prst="rect">
            <a:avLst/>
          </a:prstGeom>
          <a:ln w="0">
            <a:noFill/>
          </a:ln>
        </p:spPr>
      </p:pic>
      <p:pic>
        <p:nvPicPr>
          <p:cNvPr id="365" name="Image 18" descr="preencoded.png"/>
          <p:cNvPicPr/>
          <p:nvPr/>
        </p:nvPicPr>
        <p:blipFill>
          <a:blip r:embed="rId19"/>
          <a:stretch/>
        </p:blipFill>
        <p:spPr>
          <a:xfrm>
            <a:off x="6553080" y="2647800"/>
            <a:ext cx="190080" cy="171000"/>
          </a:xfrm>
          <a:prstGeom prst="rect">
            <a:avLst/>
          </a:prstGeom>
          <a:ln w="0">
            <a:noFill/>
          </a:ln>
        </p:spPr>
      </p:pic>
      <p:pic>
        <p:nvPicPr>
          <p:cNvPr id="366" name="Image 19" descr="preencoded.png"/>
          <p:cNvPicPr/>
          <p:nvPr/>
        </p:nvPicPr>
        <p:blipFill>
          <a:blip r:embed="rId20"/>
          <a:stretch/>
        </p:blipFill>
        <p:spPr>
          <a:xfrm>
            <a:off x="6324480" y="3600360"/>
            <a:ext cx="5486040" cy="2361960"/>
          </a:xfrm>
          <a:prstGeom prst="rect">
            <a:avLst/>
          </a:prstGeom>
          <a:ln w="0">
            <a:noFill/>
          </a:ln>
        </p:spPr>
      </p:pic>
      <p:pic>
        <p:nvPicPr>
          <p:cNvPr id="367" name="Image 20" descr="preencoded.png"/>
          <p:cNvPicPr/>
          <p:nvPr/>
        </p:nvPicPr>
        <p:blipFill>
          <a:blip r:embed="rId21"/>
          <a:stretch/>
        </p:blipFill>
        <p:spPr>
          <a:xfrm>
            <a:off x="6553080" y="4286160"/>
            <a:ext cx="266400" cy="380520"/>
          </a:xfrm>
          <a:prstGeom prst="rect">
            <a:avLst/>
          </a:prstGeom>
          <a:ln w="0">
            <a:noFill/>
          </a:ln>
        </p:spPr>
      </p:pic>
      <p:pic>
        <p:nvPicPr>
          <p:cNvPr id="368" name="Image 21" descr="preencoded.png"/>
          <p:cNvPicPr/>
          <p:nvPr/>
        </p:nvPicPr>
        <p:blipFill>
          <a:blip r:embed="rId22"/>
          <a:stretch/>
        </p:blipFill>
        <p:spPr>
          <a:xfrm>
            <a:off x="6629400" y="439092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369" name="Image 22" descr="preencoded.png"/>
          <p:cNvPicPr/>
          <p:nvPr/>
        </p:nvPicPr>
        <p:blipFill>
          <a:blip r:embed="rId23"/>
          <a:stretch/>
        </p:blipFill>
        <p:spPr>
          <a:xfrm>
            <a:off x="6553080" y="5010120"/>
            <a:ext cx="304560" cy="380520"/>
          </a:xfrm>
          <a:prstGeom prst="rect">
            <a:avLst/>
          </a:prstGeom>
          <a:ln w="0">
            <a:noFill/>
          </a:ln>
        </p:spPr>
      </p:pic>
      <p:pic>
        <p:nvPicPr>
          <p:cNvPr id="370" name="Image 23" descr="preencoded.png"/>
          <p:cNvPicPr/>
          <p:nvPr/>
        </p:nvPicPr>
        <p:blipFill>
          <a:blip r:embed="rId24"/>
          <a:stretch/>
        </p:blipFill>
        <p:spPr>
          <a:xfrm>
            <a:off x="6629400" y="5114880"/>
            <a:ext cx="151920" cy="151920"/>
          </a:xfrm>
          <a:prstGeom prst="rect">
            <a:avLst/>
          </a:prstGeom>
          <a:ln w="0">
            <a:noFill/>
          </a:ln>
        </p:spPr>
      </p:pic>
      <p:sp>
        <p:nvSpPr>
          <p:cNvPr id="371" name="Text 0"/>
          <p:cNvSpPr/>
          <p:nvPr/>
        </p:nvSpPr>
        <p:spPr>
          <a:xfrm>
            <a:off x="380880" y="237960"/>
            <a:ext cx="5994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Physical Activity Gradient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609480" y="1467000"/>
            <a:ext cx="6034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Activity-Prevalence Gradient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"/>
          <p:cNvSpPr/>
          <p:nvPr/>
        </p:nvSpPr>
        <p:spPr>
          <a:xfrm>
            <a:off x="635040" y="493380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Low Activity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3"/>
          <p:cNvSpPr/>
          <p:nvPr/>
        </p:nvSpPr>
        <p:spPr>
          <a:xfrm>
            <a:off x="762120" y="5448240"/>
            <a:ext cx="12697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Highest prevalence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4"/>
          <p:cNvSpPr/>
          <p:nvPr/>
        </p:nvSpPr>
        <p:spPr>
          <a:xfrm>
            <a:off x="2489040" y="4933800"/>
            <a:ext cx="12697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Moderate Activity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5"/>
          <p:cNvSpPr/>
          <p:nvPr/>
        </p:nvSpPr>
        <p:spPr>
          <a:xfrm>
            <a:off x="2489040" y="5715000"/>
            <a:ext cx="12697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Intermediate prevalence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6"/>
          <p:cNvSpPr/>
          <p:nvPr/>
        </p:nvSpPr>
        <p:spPr>
          <a:xfrm>
            <a:off x="4089240" y="493380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High Activity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7"/>
          <p:cNvSpPr/>
          <p:nvPr/>
        </p:nvSpPr>
        <p:spPr>
          <a:xfrm>
            <a:off x="4089240" y="5448240"/>
            <a:ext cx="1523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Lowest prevalence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8"/>
          <p:cNvSpPr/>
          <p:nvPr/>
        </p:nvSpPr>
        <p:spPr>
          <a:xfrm>
            <a:off x="6553080" y="1467000"/>
            <a:ext cx="5028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Observed Patterns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9"/>
          <p:cNvSpPr/>
          <p:nvPr/>
        </p:nvSpPr>
        <p:spPr>
          <a:xfrm>
            <a:off x="6858000" y="1924200"/>
            <a:ext cx="4723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Diabetes prevalence decreases as physical activity increases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0"/>
          <p:cNvSpPr/>
          <p:nvPr/>
        </p:nvSpPr>
        <p:spPr>
          <a:xfrm>
            <a:off x="6858000" y="2610000"/>
            <a:ext cx="4723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Physical activity improves insulin sensitivity and metabolic health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11"/>
          <p:cNvSpPr/>
          <p:nvPr/>
        </p:nvSpPr>
        <p:spPr>
          <a:xfrm>
            <a:off x="6553080" y="3828960"/>
            <a:ext cx="5028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Key Insights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2"/>
          <p:cNvSpPr/>
          <p:nvPr/>
        </p:nvSpPr>
        <p:spPr>
          <a:xfrm>
            <a:off x="6972480" y="4286160"/>
            <a:ext cx="4512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Protective Effect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3"/>
          <p:cNvSpPr/>
          <p:nvPr/>
        </p:nvSpPr>
        <p:spPr>
          <a:xfrm>
            <a:off x="6972480" y="4552920"/>
            <a:ext cx="5414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Physical activity exerts a protective effect against diabetes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14"/>
          <p:cNvSpPr/>
          <p:nvPr/>
        </p:nvSpPr>
        <p:spPr>
          <a:xfrm>
            <a:off x="7010280" y="5010120"/>
            <a:ext cx="4571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Gradient Relationship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15"/>
          <p:cNvSpPr/>
          <p:nvPr/>
        </p:nvSpPr>
        <p:spPr>
          <a:xfrm>
            <a:off x="7010280" y="52768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Even moderate increases in activity can reduce diabetes risk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88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389" name="Image 2" descr="preencoded.png"/>
          <p:cNvPicPr/>
          <p:nvPr/>
        </p:nvPicPr>
        <p:blipFill>
          <a:blip r:embed="rId3"/>
          <a:stretch/>
        </p:blipFill>
        <p:spPr>
          <a:xfrm>
            <a:off x="304920" y="1162080"/>
            <a:ext cx="5681160" cy="4381200"/>
          </a:xfrm>
          <a:prstGeom prst="rect">
            <a:avLst/>
          </a:prstGeom>
          <a:ln w="0">
            <a:noFill/>
          </a:ln>
        </p:spPr>
      </p:pic>
      <p:pic>
        <p:nvPicPr>
          <p:cNvPr id="390" name="Image 3" descr="preencoded.png"/>
          <p:cNvPicPr/>
          <p:nvPr/>
        </p:nvPicPr>
        <p:blipFill>
          <a:blip r:embed="rId4"/>
          <a:stretch/>
        </p:blipFill>
        <p:spPr>
          <a:xfrm>
            <a:off x="533520" y="1428840"/>
            <a:ext cx="228240" cy="228240"/>
          </a:xfrm>
          <a:prstGeom prst="rect">
            <a:avLst/>
          </a:prstGeom>
          <a:ln w="0">
            <a:noFill/>
          </a:ln>
        </p:spPr>
      </p:pic>
      <p:pic>
        <p:nvPicPr>
          <p:cNvPr id="391" name="Image 4" descr="preencoded.png"/>
          <p:cNvPicPr/>
          <p:nvPr/>
        </p:nvPicPr>
        <p:blipFill>
          <a:blip r:embed="rId5"/>
          <a:stretch/>
        </p:blipFill>
        <p:spPr>
          <a:xfrm>
            <a:off x="533520" y="1886040"/>
            <a:ext cx="237600" cy="266400"/>
          </a:xfrm>
          <a:prstGeom prst="rect">
            <a:avLst/>
          </a:prstGeom>
          <a:ln w="0">
            <a:noFill/>
          </a:ln>
        </p:spPr>
      </p:pic>
      <p:pic>
        <p:nvPicPr>
          <p:cNvPr id="392" name="Image 5" descr="preencoded.png"/>
          <p:cNvPicPr/>
          <p:nvPr/>
        </p:nvPicPr>
        <p:blipFill>
          <a:blip r:embed="rId6"/>
          <a:stretch/>
        </p:blipFill>
        <p:spPr>
          <a:xfrm>
            <a:off x="533520" y="2343240"/>
            <a:ext cx="237600" cy="266400"/>
          </a:xfrm>
          <a:prstGeom prst="rect">
            <a:avLst/>
          </a:prstGeom>
          <a:ln w="0">
            <a:noFill/>
          </a:ln>
        </p:spPr>
      </p:pic>
      <p:pic>
        <p:nvPicPr>
          <p:cNvPr id="393" name="Image 6" descr="preencoded.png"/>
          <p:cNvPicPr/>
          <p:nvPr/>
        </p:nvPicPr>
        <p:blipFill>
          <a:blip r:embed="rId7"/>
          <a:stretch/>
        </p:blipFill>
        <p:spPr>
          <a:xfrm>
            <a:off x="533520" y="2800440"/>
            <a:ext cx="190080" cy="266400"/>
          </a:xfrm>
          <a:prstGeom prst="rect">
            <a:avLst/>
          </a:prstGeom>
          <a:ln w="0">
            <a:noFill/>
          </a:ln>
        </p:spPr>
      </p:pic>
      <p:pic>
        <p:nvPicPr>
          <p:cNvPr id="394" name="Image 7" descr="preencoded.png"/>
          <p:cNvPicPr/>
          <p:nvPr/>
        </p:nvPicPr>
        <p:blipFill>
          <a:blip r:embed="rId8"/>
          <a:stretch/>
        </p:blipFill>
        <p:spPr>
          <a:xfrm>
            <a:off x="533520" y="3524400"/>
            <a:ext cx="5223960" cy="1333080"/>
          </a:xfrm>
          <a:prstGeom prst="rect">
            <a:avLst/>
          </a:prstGeom>
          <a:ln w="0">
            <a:noFill/>
          </a:ln>
        </p:spPr>
      </p:pic>
      <p:pic>
        <p:nvPicPr>
          <p:cNvPr id="395" name="Image 8" descr="preencoded.png"/>
          <p:cNvPicPr/>
          <p:nvPr/>
        </p:nvPicPr>
        <p:blipFill>
          <a:blip r:embed="rId9"/>
          <a:stretch/>
        </p:blipFill>
        <p:spPr>
          <a:xfrm>
            <a:off x="6215040" y="1200240"/>
            <a:ext cx="256680" cy="228240"/>
          </a:xfrm>
          <a:prstGeom prst="rect">
            <a:avLst/>
          </a:prstGeom>
          <a:ln w="0">
            <a:noFill/>
          </a:ln>
        </p:spPr>
      </p:pic>
      <p:pic>
        <p:nvPicPr>
          <p:cNvPr id="396" name="Image 9" descr="preencoded.png"/>
          <p:cNvPicPr/>
          <p:nvPr/>
        </p:nvPicPr>
        <p:blipFill>
          <a:blip r:embed="rId10"/>
          <a:stretch/>
        </p:blipFill>
        <p:spPr>
          <a:xfrm>
            <a:off x="6215040" y="1619280"/>
            <a:ext cx="2759400" cy="1866600"/>
          </a:xfrm>
          <a:prstGeom prst="rect">
            <a:avLst/>
          </a:prstGeom>
          <a:ln w="0">
            <a:noFill/>
          </a:ln>
        </p:spPr>
      </p:pic>
      <p:pic>
        <p:nvPicPr>
          <p:cNvPr id="397" name="Image 10" descr="preencoded.png"/>
          <p:cNvPicPr/>
          <p:nvPr/>
        </p:nvPicPr>
        <p:blipFill>
          <a:blip r:embed="rId11"/>
          <a:stretch/>
        </p:blipFill>
        <p:spPr>
          <a:xfrm>
            <a:off x="6100920" y="1504800"/>
            <a:ext cx="304560" cy="304560"/>
          </a:xfrm>
          <a:prstGeom prst="rect">
            <a:avLst/>
          </a:prstGeom>
          <a:ln w="0">
            <a:noFill/>
          </a:ln>
        </p:spPr>
      </p:pic>
      <p:pic>
        <p:nvPicPr>
          <p:cNvPr id="398" name="Image 11" descr="preencoded.png"/>
          <p:cNvPicPr/>
          <p:nvPr/>
        </p:nvPicPr>
        <p:blipFill>
          <a:blip r:embed="rId12"/>
          <a:stretch/>
        </p:blipFill>
        <p:spPr>
          <a:xfrm>
            <a:off x="6405480" y="1809720"/>
            <a:ext cx="323640" cy="342720"/>
          </a:xfrm>
          <a:prstGeom prst="rect">
            <a:avLst/>
          </a:prstGeom>
          <a:ln w="0">
            <a:noFill/>
          </a:ln>
        </p:spPr>
      </p:pic>
      <p:pic>
        <p:nvPicPr>
          <p:cNvPr id="399" name="Image 12" descr="preencoded.png"/>
          <p:cNvPicPr/>
          <p:nvPr/>
        </p:nvPicPr>
        <p:blipFill>
          <a:blip r:embed="rId13"/>
          <a:stretch/>
        </p:blipFill>
        <p:spPr>
          <a:xfrm>
            <a:off x="6405480" y="230508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00" name="Image 13" descr="preencoded.png"/>
          <p:cNvPicPr/>
          <p:nvPr/>
        </p:nvPicPr>
        <p:blipFill>
          <a:blip r:embed="rId14"/>
          <a:stretch/>
        </p:blipFill>
        <p:spPr>
          <a:xfrm>
            <a:off x="6405480" y="261000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01" name="Image 14" descr="preencoded.png"/>
          <p:cNvPicPr/>
          <p:nvPr/>
        </p:nvPicPr>
        <p:blipFill>
          <a:blip r:embed="rId15"/>
          <a:stretch/>
        </p:blipFill>
        <p:spPr>
          <a:xfrm>
            <a:off x="6405480" y="291456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02" name="Image 15" descr="preencoded.png"/>
          <p:cNvPicPr/>
          <p:nvPr/>
        </p:nvPicPr>
        <p:blipFill>
          <a:blip r:embed="rId16"/>
          <a:stretch/>
        </p:blipFill>
        <p:spPr>
          <a:xfrm>
            <a:off x="9127440" y="1619280"/>
            <a:ext cx="2759400" cy="1866600"/>
          </a:xfrm>
          <a:prstGeom prst="rect">
            <a:avLst/>
          </a:prstGeom>
          <a:ln w="0">
            <a:noFill/>
          </a:ln>
        </p:spPr>
      </p:pic>
      <p:pic>
        <p:nvPicPr>
          <p:cNvPr id="403" name="Image 16" descr="preencoded.png"/>
          <p:cNvPicPr/>
          <p:nvPr/>
        </p:nvPicPr>
        <p:blipFill>
          <a:blip r:embed="rId17"/>
          <a:stretch/>
        </p:blipFill>
        <p:spPr>
          <a:xfrm>
            <a:off x="9012960" y="1504800"/>
            <a:ext cx="304560" cy="304560"/>
          </a:xfrm>
          <a:prstGeom prst="rect">
            <a:avLst/>
          </a:prstGeom>
          <a:ln w="0">
            <a:noFill/>
          </a:ln>
        </p:spPr>
      </p:pic>
      <p:pic>
        <p:nvPicPr>
          <p:cNvPr id="404" name="Image 17" descr="preencoded.png"/>
          <p:cNvPicPr/>
          <p:nvPr/>
        </p:nvPicPr>
        <p:blipFill>
          <a:blip r:embed="rId18"/>
          <a:stretch/>
        </p:blipFill>
        <p:spPr>
          <a:xfrm>
            <a:off x="9317880" y="1905120"/>
            <a:ext cx="285480" cy="342720"/>
          </a:xfrm>
          <a:prstGeom prst="rect">
            <a:avLst/>
          </a:prstGeom>
          <a:ln w="0">
            <a:noFill/>
          </a:ln>
        </p:spPr>
      </p:pic>
      <p:pic>
        <p:nvPicPr>
          <p:cNvPr id="405" name="Image 18" descr="preencoded.png"/>
          <p:cNvPicPr/>
          <p:nvPr/>
        </p:nvPicPr>
        <p:blipFill>
          <a:blip r:embed="rId19"/>
          <a:stretch/>
        </p:blipFill>
        <p:spPr>
          <a:xfrm>
            <a:off x="9317880" y="249552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06" name="Image 19" descr="preencoded.png"/>
          <p:cNvPicPr/>
          <p:nvPr/>
        </p:nvPicPr>
        <p:blipFill>
          <a:blip r:embed="rId20"/>
          <a:stretch/>
        </p:blipFill>
        <p:spPr>
          <a:xfrm>
            <a:off x="9317880" y="280044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07" name="Image 20" descr="preencoded.png"/>
          <p:cNvPicPr/>
          <p:nvPr/>
        </p:nvPicPr>
        <p:blipFill>
          <a:blip r:embed="rId21"/>
          <a:stretch/>
        </p:blipFill>
        <p:spPr>
          <a:xfrm>
            <a:off x="9317880" y="310500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08" name="Image 21" descr="preencoded.png"/>
          <p:cNvPicPr/>
          <p:nvPr/>
        </p:nvPicPr>
        <p:blipFill>
          <a:blip r:embed="rId22"/>
          <a:stretch/>
        </p:blipFill>
        <p:spPr>
          <a:xfrm>
            <a:off x="6215040" y="3638520"/>
            <a:ext cx="2759400" cy="1904760"/>
          </a:xfrm>
          <a:prstGeom prst="rect">
            <a:avLst/>
          </a:prstGeom>
          <a:ln w="0">
            <a:noFill/>
          </a:ln>
        </p:spPr>
      </p:pic>
      <p:pic>
        <p:nvPicPr>
          <p:cNvPr id="409" name="Image 22" descr="preencoded.png"/>
          <p:cNvPicPr/>
          <p:nvPr/>
        </p:nvPicPr>
        <p:blipFill>
          <a:blip r:embed="rId23"/>
          <a:stretch/>
        </p:blipFill>
        <p:spPr>
          <a:xfrm>
            <a:off x="6100920" y="3524400"/>
            <a:ext cx="304560" cy="304560"/>
          </a:xfrm>
          <a:prstGeom prst="rect">
            <a:avLst/>
          </a:prstGeom>
          <a:ln w="0">
            <a:noFill/>
          </a:ln>
        </p:spPr>
      </p:pic>
      <p:pic>
        <p:nvPicPr>
          <p:cNvPr id="410" name="Image 23" descr="preencoded.png"/>
          <p:cNvPicPr/>
          <p:nvPr/>
        </p:nvPicPr>
        <p:blipFill>
          <a:blip r:embed="rId24"/>
          <a:stretch/>
        </p:blipFill>
        <p:spPr>
          <a:xfrm>
            <a:off x="6405480" y="3924360"/>
            <a:ext cx="247320" cy="342720"/>
          </a:xfrm>
          <a:prstGeom prst="rect">
            <a:avLst/>
          </a:prstGeom>
          <a:ln w="0">
            <a:noFill/>
          </a:ln>
        </p:spPr>
      </p:pic>
      <p:pic>
        <p:nvPicPr>
          <p:cNvPr id="411" name="Image 24" descr="preencoded.png"/>
          <p:cNvPicPr/>
          <p:nvPr/>
        </p:nvPicPr>
        <p:blipFill>
          <a:blip r:embed="rId25"/>
          <a:stretch/>
        </p:blipFill>
        <p:spPr>
          <a:xfrm>
            <a:off x="6405480" y="451476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12" name="Image 25" descr="preencoded.png"/>
          <p:cNvPicPr/>
          <p:nvPr/>
        </p:nvPicPr>
        <p:blipFill>
          <a:blip r:embed="rId26"/>
          <a:stretch/>
        </p:blipFill>
        <p:spPr>
          <a:xfrm>
            <a:off x="6405480" y="481968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13" name="Image 26" descr="preencoded.png"/>
          <p:cNvPicPr/>
          <p:nvPr/>
        </p:nvPicPr>
        <p:blipFill>
          <a:blip r:embed="rId27"/>
          <a:stretch/>
        </p:blipFill>
        <p:spPr>
          <a:xfrm>
            <a:off x="6405480" y="512460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14" name="Image 27" descr="preencoded.png"/>
          <p:cNvPicPr/>
          <p:nvPr/>
        </p:nvPicPr>
        <p:blipFill>
          <a:blip r:embed="rId28"/>
          <a:stretch/>
        </p:blipFill>
        <p:spPr>
          <a:xfrm>
            <a:off x="9127440" y="3638520"/>
            <a:ext cx="2759400" cy="1904760"/>
          </a:xfrm>
          <a:prstGeom prst="rect">
            <a:avLst/>
          </a:prstGeom>
          <a:ln w="0">
            <a:noFill/>
          </a:ln>
        </p:spPr>
      </p:pic>
      <p:pic>
        <p:nvPicPr>
          <p:cNvPr id="415" name="Image 28" descr="preencoded.png"/>
          <p:cNvPicPr/>
          <p:nvPr/>
        </p:nvPicPr>
        <p:blipFill>
          <a:blip r:embed="rId29"/>
          <a:stretch/>
        </p:blipFill>
        <p:spPr>
          <a:xfrm>
            <a:off x="9012960" y="3524400"/>
            <a:ext cx="304560" cy="304560"/>
          </a:xfrm>
          <a:prstGeom prst="rect">
            <a:avLst/>
          </a:prstGeom>
          <a:ln w="0">
            <a:noFill/>
          </a:ln>
        </p:spPr>
      </p:pic>
      <p:pic>
        <p:nvPicPr>
          <p:cNvPr id="416" name="Image 29" descr="preencoded.png"/>
          <p:cNvPicPr/>
          <p:nvPr/>
        </p:nvPicPr>
        <p:blipFill>
          <a:blip r:embed="rId30"/>
          <a:stretch/>
        </p:blipFill>
        <p:spPr>
          <a:xfrm>
            <a:off x="9317880" y="3828960"/>
            <a:ext cx="285480" cy="342720"/>
          </a:xfrm>
          <a:prstGeom prst="rect">
            <a:avLst/>
          </a:prstGeom>
          <a:ln w="0">
            <a:noFill/>
          </a:ln>
        </p:spPr>
      </p:pic>
      <p:pic>
        <p:nvPicPr>
          <p:cNvPr id="417" name="Image 30" descr="preencoded.png"/>
          <p:cNvPicPr/>
          <p:nvPr/>
        </p:nvPicPr>
        <p:blipFill>
          <a:blip r:embed="rId31"/>
          <a:stretch/>
        </p:blipFill>
        <p:spPr>
          <a:xfrm>
            <a:off x="9317880" y="432432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18" name="Image 31" descr="preencoded.png"/>
          <p:cNvPicPr/>
          <p:nvPr/>
        </p:nvPicPr>
        <p:blipFill>
          <a:blip r:embed="rId32"/>
          <a:stretch/>
        </p:blipFill>
        <p:spPr>
          <a:xfrm>
            <a:off x="9317880" y="485784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19" name="Image 32" descr="preencoded.png"/>
          <p:cNvPicPr/>
          <p:nvPr/>
        </p:nvPicPr>
        <p:blipFill>
          <a:blip r:embed="rId33"/>
          <a:stretch/>
        </p:blipFill>
        <p:spPr>
          <a:xfrm>
            <a:off x="9317880" y="5162400"/>
            <a:ext cx="114120" cy="190080"/>
          </a:xfrm>
          <a:prstGeom prst="rect">
            <a:avLst/>
          </a:prstGeom>
          <a:ln w="0">
            <a:noFill/>
          </a:ln>
        </p:spPr>
      </p:pic>
      <p:pic>
        <p:nvPicPr>
          <p:cNvPr id="420" name="Image 33" descr="preencoded.png"/>
          <p:cNvPicPr/>
          <p:nvPr/>
        </p:nvPicPr>
        <p:blipFill>
          <a:blip r:embed="rId34"/>
          <a:stretch/>
        </p:blipFill>
        <p:spPr>
          <a:xfrm>
            <a:off x="304920" y="5772240"/>
            <a:ext cx="11581920" cy="837720"/>
          </a:xfrm>
          <a:prstGeom prst="rect">
            <a:avLst/>
          </a:prstGeom>
          <a:ln w="0">
            <a:noFill/>
          </a:ln>
        </p:spPr>
      </p:pic>
      <p:pic>
        <p:nvPicPr>
          <p:cNvPr id="421" name="Image 34" descr="preencoded.png"/>
          <p:cNvPicPr/>
          <p:nvPr/>
        </p:nvPicPr>
        <p:blipFill>
          <a:blip r:embed="rId35"/>
          <a:stretch/>
        </p:blipFill>
        <p:spPr>
          <a:xfrm>
            <a:off x="596520" y="5952960"/>
            <a:ext cx="132840" cy="171000"/>
          </a:xfrm>
          <a:prstGeom prst="rect">
            <a:avLst/>
          </a:prstGeom>
          <a:ln w="0">
            <a:noFill/>
          </a:ln>
        </p:spPr>
      </p:pic>
      <p:sp>
        <p:nvSpPr>
          <p:cNvPr id="422" name="Text 0"/>
          <p:cNvSpPr/>
          <p:nvPr/>
        </p:nvSpPr>
        <p:spPr>
          <a:xfrm>
            <a:off x="380880" y="237960"/>
            <a:ext cx="7417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Smoking Behavior and Diabetes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1"/>
          <p:cNvSpPr/>
          <p:nvPr/>
        </p:nvSpPr>
        <p:spPr>
          <a:xfrm>
            <a:off x="876240" y="1390680"/>
            <a:ext cx="5223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Observed Patterns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2"/>
          <p:cNvSpPr/>
          <p:nvPr/>
        </p:nvSpPr>
        <p:spPr>
          <a:xfrm>
            <a:off x="885960" y="1847880"/>
            <a:ext cx="5610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Diabetes prevalence varies across smoking categories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3"/>
          <p:cNvSpPr/>
          <p:nvPr/>
        </p:nvSpPr>
        <p:spPr>
          <a:xfrm>
            <a:off x="885960" y="2305080"/>
            <a:ext cx="4928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Smoking interacts with other lifestyle behaviors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4"/>
          <p:cNvSpPr/>
          <p:nvPr/>
        </p:nvSpPr>
        <p:spPr>
          <a:xfrm>
            <a:off x="838080" y="2762280"/>
            <a:ext cx="49194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Combined exposure to smoking and physical inactivity corresponds to higher prevalence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5"/>
          <p:cNvSpPr/>
          <p:nvPr/>
        </p:nvSpPr>
        <p:spPr>
          <a:xfrm>
            <a:off x="685800" y="3676680"/>
            <a:ext cx="4919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Key Insight: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6"/>
          <p:cNvSpPr/>
          <p:nvPr/>
        </p:nvSpPr>
        <p:spPr>
          <a:xfrm>
            <a:off x="685800" y="4019400"/>
            <a:ext cx="4919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Smoking contributes indirectly to diabetes risk by influencing metabolic and cardiovascular health and by interacting with other lifestyle factors.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7"/>
          <p:cNvSpPr/>
          <p:nvPr/>
        </p:nvSpPr>
        <p:spPr>
          <a:xfrm>
            <a:off x="6586560" y="1162080"/>
            <a:ext cx="5671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Impact Pathways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8"/>
          <p:cNvSpPr/>
          <p:nvPr/>
        </p:nvSpPr>
        <p:spPr>
          <a:xfrm>
            <a:off x="6199920" y="15048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9"/>
          <p:cNvSpPr/>
          <p:nvPr/>
        </p:nvSpPr>
        <p:spPr>
          <a:xfrm>
            <a:off x="6843600" y="1847880"/>
            <a:ext cx="2189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ui-sans-serif"/>
                <a:ea typeface="ui-sans-serif"/>
              </a:rPr>
              <a:t>Metabolic Health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0"/>
          <p:cNvSpPr/>
          <p:nvPr/>
        </p:nvSpPr>
        <p:spPr>
          <a:xfrm>
            <a:off x="6595920" y="2266920"/>
            <a:ext cx="159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Insulin resistance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1"/>
          <p:cNvSpPr/>
          <p:nvPr/>
        </p:nvSpPr>
        <p:spPr>
          <a:xfrm>
            <a:off x="6595920" y="2571840"/>
            <a:ext cx="181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Glucose intolerance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12"/>
          <p:cNvSpPr/>
          <p:nvPr/>
        </p:nvSpPr>
        <p:spPr>
          <a:xfrm>
            <a:off x="6595920" y="2876400"/>
            <a:ext cx="108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Weight gain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13"/>
          <p:cNvSpPr/>
          <p:nvPr/>
        </p:nvSpPr>
        <p:spPr>
          <a:xfrm>
            <a:off x="9112320" y="15048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14"/>
          <p:cNvSpPr/>
          <p:nvPr/>
        </p:nvSpPr>
        <p:spPr>
          <a:xfrm>
            <a:off x="9717840" y="1809720"/>
            <a:ext cx="19785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ui-sans-serif"/>
                <a:ea typeface="ui-sans-serif"/>
              </a:rPr>
              <a:t>Cardiovascular Health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15"/>
          <p:cNvSpPr/>
          <p:nvPr/>
        </p:nvSpPr>
        <p:spPr>
          <a:xfrm>
            <a:off x="9508320" y="2457360"/>
            <a:ext cx="179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Reduced blood flow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16"/>
          <p:cNvSpPr/>
          <p:nvPr/>
        </p:nvSpPr>
        <p:spPr>
          <a:xfrm>
            <a:off x="9508320" y="2762280"/>
            <a:ext cx="2160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Increased inflammation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17"/>
          <p:cNvSpPr/>
          <p:nvPr/>
        </p:nvSpPr>
        <p:spPr>
          <a:xfrm>
            <a:off x="9508320" y="3067200"/>
            <a:ext cx="214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Endothelial dysfunction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18"/>
          <p:cNvSpPr/>
          <p:nvPr/>
        </p:nvSpPr>
        <p:spPr>
          <a:xfrm>
            <a:off x="6199920" y="35244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19"/>
          <p:cNvSpPr/>
          <p:nvPr/>
        </p:nvSpPr>
        <p:spPr>
          <a:xfrm>
            <a:off x="6767640" y="3828960"/>
            <a:ext cx="20167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ui-sans-serif"/>
                <a:ea typeface="ui-sans-serif"/>
              </a:rPr>
              <a:t>Lifestyle Interactions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0"/>
          <p:cNvSpPr/>
          <p:nvPr/>
        </p:nvSpPr>
        <p:spPr>
          <a:xfrm>
            <a:off x="6595920" y="4476600"/>
            <a:ext cx="233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Reduced physical 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1"/>
          <p:cNvSpPr/>
          <p:nvPr/>
        </p:nvSpPr>
        <p:spPr>
          <a:xfrm>
            <a:off x="6595920" y="4781520"/>
            <a:ext cx="23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Unhealthy eating patterns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2"/>
          <p:cNvSpPr/>
          <p:nvPr/>
        </p:nvSpPr>
        <p:spPr>
          <a:xfrm>
            <a:off x="6595920" y="5086440"/>
            <a:ext cx="2219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Lower health awareness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23"/>
          <p:cNvSpPr/>
          <p:nvPr/>
        </p:nvSpPr>
        <p:spPr>
          <a:xfrm>
            <a:off x="9112320" y="35244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24"/>
          <p:cNvSpPr/>
          <p:nvPr/>
        </p:nvSpPr>
        <p:spPr>
          <a:xfrm>
            <a:off x="9717840" y="3867120"/>
            <a:ext cx="2323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ui-sans-serif"/>
                <a:ea typeface="ui-sans-serif"/>
              </a:rPr>
              <a:t>Risk Amplification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25"/>
          <p:cNvSpPr/>
          <p:nvPr/>
        </p:nvSpPr>
        <p:spPr>
          <a:xfrm>
            <a:off x="9508320" y="4286160"/>
            <a:ext cx="218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Smoking + physical inactivity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26"/>
          <p:cNvSpPr/>
          <p:nvPr/>
        </p:nvSpPr>
        <p:spPr>
          <a:xfrm>
            <a:off x="9508320" y="4819680"/>
            <a:ext cx="248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Metabolic + cardiovascular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27"/>
          <p:cNvSpPr/>
          <p:nvPr/>
        </p:nvSpPr>
        <p:spPr>
          <a:xfrm>
            <a:off x="9508320" y="5124600"/>
            <a:ext cx="2205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Multiple adverse factors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28"/>
          <p:cNvSpPr/>
          <p:nvPr/>
        </p:nvSpPr>
        <p:spPr>
          <a:xfrm>
            <a:off x="457200" y="5924520"/>
            <a:ext cx="112773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 </a:t>
            </a: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Smoking behavior represents a significant modifiable risk factor for diabetes, particularly when combined with other lifestyle behaviors.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52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453" name="Image 2" descr="preencoded.png"/>
          <p:cNvPicPr/>
          <p:nvPr/>
        </p:nvPicPr>
        <p:blipFill>
          <a:blip r:embed="rId3"/>
          <a:stretch/>
        </p:blipFill>
        <p:spPr>
          <a:xfrm>
            <a:off x="304920" y="1162080"/>
            <a:ext cx="5676480" cy="5390640"/>
          </a:xfrm>
          <a:prstGeom prst="rect">
            <a:avLst/>
          </a:prstGeom>
          <a:ln w="0">
            <a:noFill/>
          </a:ln>
        </p:spPr>
      </p:pic>
      <p:pic>
        <p:nvPicPr>
          <p:cNvPr id="454" name="Image 3" descr="preencoded.png"/>
          <p:cNvPicPr/>
          <p:nvPr/>
        </p:nvPicPr>
        <p:blipFill>
          <a:blip r:embed="rId4"/>
          <a:stretch/>
        </p:blipFill>
        <p:spPr>
          <a:xfrm>
            <a:off x="533520" y="1886040"/>
            <a:ext cx="342720" cy="437760"/>
          </a:xfrm>
          <a:prstGeom prst="rect">
            <a:avLst/>
          </a:prstGeom>
          <a:ln w="0">
            <a:noFill/>
          </a:ln>
        </p:spPr>
      </p:pic>
      <p:pic>
        <p:nvPicPr>
          <p:cNvPr id="455" name="Image 4" descr="preencoded.png"/>
          <p:cNvPicPr/>
          <p:nvPr/>
        </p:nvPicPr>
        <p:blipFill>
          <a:blip r:embed="rId5"/>
          <a:stretch/>
        </p:blipFill>
        <p:spPr>
          <a:xfrm>
            <a:off x="609480" y="1962000"/>
            <a:ext cx="190080" cy="266400"/>
          </a:xfrm>
          <a:prstGeom prst="rect">
            <a:avLst/>
          </a:prstGeom>
          <a:ln w="0">
            <a:noFill/>
          </a:ln>
        </p:spPr>
      </p:pic>
      <p:pic>
        <p:nvPicPr>
          <p:cNvPr id="456" name="Image 5" descr="preencoded.png"/>
          <p:cNvPicPr/>
          <p:nvPr/>
        </p:nvPicPr>
        <p:blipFill>
          <a:blip r:embed="rId6"/>
          <a:stretch/>
        </p:blipFill>
        <p:spPr>
          <a:xfrm>
            <a:off x="533520" y="2610000"/>
            <a:ext cx="342720" cy="437760"/>
          </a:xfrm>
          <a:prstGeom prst="rect">
            <a:avLst/>
          </a:prstGeom>
          <a:ln w="0">
            <a:noFill/>
          </a:ln>
        </p:spPr>
      </p:pic>
      <p:pic>
        <p:nvPicPr>
          <p:cNvPr id="457" name="Image 6" descr="preencoded.png"/>
          <p:cNvPicPr/>
          <p:nvPr/>
        </p:nvPicPr>
        <p:blipFill>
          <a:blip r:embed="rId7"/>
          <a:stretch/>
        </p:blipFill>
        <p:spPr>
          <a:xfrm>
            <a:off x="609480" y="2685960"/>
            <a:ext cx="190080" cy="266400"/>
          </a:xfrm>
          <a:prstGeom prst="rect">
            <a:avLst/>
          </a:prstGeom>
          <a:ln w="0">
            <a:noFill/>
          </a:ln>
        </p:spPr>
      </p:pic>
      <p:pic>
        <p:nvPicPr>
          <p:cNvPr id="458" name="Image 7" descr="preencoded.png"/>
          <p:cNvPicPr/>
          <p:nvPr/>
        </p:nvPicPr>
        <p:blipFill>
          <a:blip r:embed="rId8"/>
          <a:stretch/>
        </p:blipFill>
        <p:spPr>
          <a:xfrm>
            <a:off x="533520" y="3333600"/>
            <a:ext cx="342720" cy="437760"/>
          </a:xfrm>
          <a:prstGeom prst="rect">
            <a:avLst/>
          </a:prstGeom>
          <a:ln w="0">
            <a:noFill/>
          </a:ln>
        </p:spPr>
      </p:pic>
      <p:pic>
        <p:nvPicPr>
          <p:cNvPr id="459" name="Image 8" descr="preencoded.png"/>
          <p:cNvPicPr/>
          <p:nvPr/>
        </p:nvPicPr>
        <p:blipFill>
          <a:blip r:embed="rId9"/>
          <a:stretch/>
        </p:blipFill>
        <p:spPr>
          <a:xfrm>
            <a:off x="609480" y="3409920"/>
            <a:ext cx="190080" cy="266400"/>
          </a:xfrm>
          <a:prstGeom prst="rect">
            <a:avLst/>
          </a:prstGeom>
          <a:ln w="0">
            <a:noFill/>
          </a:ln>
        </p:spPr>
      </p:pic>
      <p:pic>
        <p:nvPicPr>
          <p:cNvPr id="460" name="Image 9" descr="preencoded.png"/>
          <p:cNvPicPr/>
          <p:nvPr/>
        </p:nvPicPr>
        <p:blipFill>
          <a:blip r:embed="rId10"/>
          <a:stretch/>
        </p:blipFill>
        <p:spPr>
          <a:xfrm>
            <a:off x="533520" y="4172040"/>
            <a:ext cx="5219280" cy="1561680"/>
          </a:xfrm>
          <a:prstGeom prst="rect">
            <a:avLst/>
          </a:prstGeom>
          <a:ln w="0">
            <a:noFill/>
          </a:ln>
        </p:spPr>
      </p:pic>
      <p:pic>
        <p:nvPicPr>
          <p:cNvPr id="461" name="Image 10" descr="preencoded.png"/>
          <p:cNvPicPr/>
          <p:nvPr/>
        </p:nvPicPr>
        <p:blipFill>
          <a:blip r:embed="rId11"/>
          <a:stretch/>
        </p:blipFill>
        <p:spPr>
          <a:xfrm>
            <a:off x="6210360" y="1162080"/>
            <a:ext cx="5676480" cy="5390640"/>
          </a:xfrm>
          <a:prstGeom prst="rect">
            <a:avLst/>
          </a:prstGeom>
          <a:ln w="0">
            <a:noFill/>
          </a:ln>
        </p:spPr>
      </p:pic>
      <p:pic>
        <p:nvPicPr>
          <p:cNvPr id="462" name="Image 11" descr="preencoded.png"/>
          <p:cNvPicPr/>
          <p:nvPr/>
        </p:nvPicPr>
        <p:blipFill>
          <a:blip r:embed="rId12"/>
          <a:stretch/>
        </p:blipFill>
        <p:spPr>
          <a:xfrm>
            <a:off x="6438960" y="1847880"/>
            <a:ext cx="5219280" cy="2457000"/>
          </a:xfrm>
          <a:prstGeom prst="rect">
            <a:avLst/>
          </a:prstGeom>
          <a:ln w="0">
            <a:noFill/>
          </a:ln>
        </p:spPr>
      </p:pic>
      <p:pic>
        <p:nvPicPr>
          <p:cNvPr id="463" name="Image 12" descr="preencoded.png"/>
          <p:cNvPicPr/>
          <p:nvPr/>
        </p:nvPicPr>
        <p:blipFill>
          <a:blip r:embed="rId13"/>
          <a:stretch/>
        </p:blipFill>
        <p:spPr>
          <a:xfrm>
            <a:off x="6438960" y="4495680"/>
            <a:ext cx="1663200" cy="837720"/>
          </a:xfrm>
          <a:prstGeom prst="rect">
            <a:avLst/>
          </a:prstGeom>
          <a:ln w="0">
            <a:noFill/>
          </a:ln>
        </p:spPr>
      </p:pic>
      <p:pic>
        <p:nvPicPr>
          <p:cNvPr id="464" name="Image 13" descr="preencoded.png"/>
          <p:cNvPicPr/>
          <p:nvPr/>
        </p:nvPicPr>
        <p:blipFill>
          <a:blip r:embed="rId14"/>
          <a:stretch/>
        </p:blipFill>
        <p:spPr>
          <a:xfrm>
            <a:off x="7156440" y="461016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465" name="Image 14" descr="preencoded.png"/>
          <p:cNvPicPr/>
          <p:nvPr/>
        </p:nvPicPr>
        <p:blipFill>
          <a:blip r:embed="rId15"/>
          <a:stretch/>
        </p:blipFill>
        <p:spPr>
          <a:xfrm>
            <a:off x="8216640" y="4495680"/>
            <a:ext cx="1663560" cy="837720"/>
          </a:xfrm>
          <a:prstGeom prst="rect">
            <a:avLst/>
          </a:prstGeom>
          <a:ln w="0">
            <a:noFill/>
          </a:ln>
        </p:spPr>
      </p:pic>
      <p:pic>
        <p:nvPicPr>
          <p:cNvPr id="466" name="Image 15" descr="preencoded.png"/>
          <p:cNvPicPr/>
          <p:nvPr/>
        </p:nvPicPr>
        <p:blipFill>
          <a:blip r:embed="rId16"/>
          <a:stretch/>
        </p:blipFill>
        <p:spPr>
          <a:xfrm>
            <a:off x="9994680" y="4495680"/>
            <a:ext cx="1663560" cy="837720"/>
          </a:xfrm>
          <a:prstGeom prst="rect">
            <a:avLst/>
          </a:prstGeom>
          <a:ln w="0">
            <a:noFill/>
          </a:ln>
        </p:spPr>
      </p:pic>
      <p:pic>
        <p:nvPicPr>
          <p:cNvPr id="467" name="Image 16" descr="preencoded.png"/>
          <p:cNvPicPr/>
          <p:nvPr/>
        </p:nvPicPr>
        <p:blipFill>
          <a:blip r:embed="rId17"/>
          <a:stretch/>
        </p:blipFill>
        <p:spPr>
          <a:xfrm>
            <a:off x="10712520" y="4610160"/>
            <a:ext cx="228240" cy="304560"/>
          </a:xfrm>
          <a:prstGeom prst="rect">
            <a:avLst/>
          </a:prstGeom>
          <a:ln w="0">
            <a:noFill/>
          </a:ln>
        </p:spPr>
      </p:pic>
      <p:pic>
        <p:nvPicPr>
          <p:cNvPr id="468" name="Image 17" descr="preencoded.png"/>
          <p:cNvPicPr/>
          <p:nvPr/>
        </p:nvPicPr>
        <p:blipFill>
          <a:blip r:embed="rId18"/>
          <a:stretch/>
        </p:blipFill>
        <p:spPr>
          <a:xfrm>
            <a:off x="6438960" y="5486400"/>
            <a:ext cx="5219280" cy="837720"/>
          </a:xfrm>
          <a:prstGeom prst="rect">
            <a:avLst/>
          </a:prstGeom>
          <a:ln w="0">
            <a:noFill/>
          </a:ln>
        </p:spPr>
      </p:pic>
      <p:pic>
        <p:nvPicPr>
          <p:cNvPr id="469" name="Image 18" descr="preencoded.png"/>
          <p:cNvPicPr/>
          <p:nvPr/>
        </p:nvPicPr>
        <p:blipFill>
          <a:blip r:embed="rId19"/>
          <a:stretch/>
        </p:blipFill>
        <p:spPr>
          <a:xfrm>
            <a:off x="6798960" y="566748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470" name="Text 0"/>
          <p:cNvSpPr/>
          <p:nvPr/>
        </p:nvSpPr>
        <p:spPr>
          <a:xfrm>
            <a:off x="380880" y="237960"/>
            <a:ext cx="10186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Self-Reported Health and Clinical Indicators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1"/>
          <p:cNvSpPr/>
          <p:nvPr/>
        </p:nvSpPr>
        <p:spPr>
          <a:xfrm>
            <a:off x="533520" y="1390680"/>
            <a:ext cx="5219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Observed Patterns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2"/>
          <p:cNvSpPr/>
          <p:nvPr/>
        </p:nvSpPr>
        <p:spPr>
          <a:xfrm>
            <a:off x="1028880" y="1886040"/>
            <a:ext cx="4723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Poorer self-reported health correlates with higher diabetes prevalence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3"/>
          <p:cNvSpPr/>
          <p:nvPr/>
        </p:nvSpPr>
        <p:spPr>
          <a:xfrm>
            <a:off x="1028880" y="2610000"/>
            <a:ext cx="4723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Multiple adverse health indicators tend to cluster in individuals with diabetes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4"/>
          <p:cNvSpPr/>
          <p:nvPr/>
        </p:nvSpPr>
        <p:spPr>
          <a:xfrm>
            <a:off x="1028880" y="3333600"/>
            <a:ext cx="4723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Diabetes prevalence increases as overall health status declines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5"/>
          <p:cNvSpPr/>
          <p:nvPr/>
        </p:nvSpPr>
        <p:spPr>
          <a:xfrm>
            <a:off x="723960" y="4362480"/>
            <a:ext cx="4838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6b21a8"/>
                </a:solidFill>
                <a:latin typeface="ui-sans-serif"/>
                <a:ea typeface="ui-sans-serif"/>
              </a:rPr>
              <a:t>Key Insight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6"/>
          <p:cNvSpPr/>
          <p:nvPr/>
        </p:nvSpPr>
        <p:spPr>
          <a:xfrm>
            <a:off x="723960" y="4743360"/>
            <a:ext cx="483840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These patterns suggest that diabetes often coexists with broader health deterioration, reinforcing its role as part of a larger metabolic syndrome.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7"/>
          <p:cNvSpPr/>
          <p:nvPr/>
        </p:nvSpPr>
        <p:spPr>
          <a:xfrm>
            <a:off x="6438960" y="1390680"/>
            <a:ext cx="6263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Health Indicator Relationship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8"/>
          <p:cNvSpPr/>
          <p:nvPr/>
        </p:nvSpPr>
        <p:spPr>
          <a:xfrm>
            <a:off x="6409800" y="4991040"/>
            <a:ext cx="1721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66534"/>
                </a:solidFill>
                <a:latin typeface="ui-sans-serif"/>
                <a:ea typeface="ui-sans-serif"/>
              </a:rPr>
              <a:t>Cardiovascular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9"/>
          <p:cNvSpPr/>
          <p:nvPr/>
        </p:nvSpPr>
        <p:spPr>
          <a:xfrm>
            <a:off x="8187480" y="4838760"/>
            <a:ext cx="172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40af"/>
                </a:solidFill>
                <a:latin typeface="ui-sans-serif"/>
                <a:ea typeface="ui-sans-serif"/>
              </a:rPr>
              <a:t>Kidney Function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10"/>
          <p:cNvSpPr/>
          <p:nvPr/>
        </p:nvSpPr>
        <p:spPr>
          <a:xfrm>
            <a:off x="9965520" y="4991040"/>
            <a:ext cx="172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54d0e"/>
                </a:solidFill>
                <a:latin typeface="ui-sans-serif"/>
                <a:ea typeface="ui-sans-serif"/>
              </a:rPr>
              <a:t>Neurological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11"/>
          <p:cNvSpPr/>
          <p:nvPr/>
        </p:nvSpPr>
        <p:spPr>
          <a:xfrm>
            <a:off x="6591240" y="5638680"/>
            <a:ext cx="49147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Understanding these relationships helps develop more comprehensive treatment approaches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83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484" name="Image 2" descr="preencoded.png"/>
          <p:cNvPicPr/>
          <p:nvPr/>
        </p:nvPicPr>
        <p:blipFill>
          <a:blip r:embed="rId3"/>
          <a:stretch/>
        </p:blipFill>
        <p:spPr>
          <a:xfrm>
            <a:off x="304920" y="1162080"/>
            <a:ext cx="5562360" cy="1980720"/>
          </a:xfrm>
          <a:prstGeom prst="rect">
            <a:avLst/>
          </a:prstGeom>
          <a:ln w="0">
            <a:noFill/>
          </a:ln>
        </p:spPr>
      </p:pic>
      <p:pic>
        <p:nvPicPr>
          <p:cNvPr id="485" name="Image 3" descr="preencoded.png"/>
          <p:cNvPicPr/>
          <p:nvPr/>
        </p:nvPicPr>
        <p:blipFill>
          <a:blip r:embed="rId4"/>
          <a:stretch/>
        </p:blipFill>
        <p:spPr>
          <a:xfrm>
            <a:off x="495360" y="180972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486" name="Image 4" descr="preencoded.png"/>
          <p:cNvPicPr/>
          <p:nvPr/>
        </p:nvPicPr>
        <p:blipFill>
          <a:blip r:embed="rId5"/>
          <a:stretch/>
        </p:blipFill>
        <p:spPr>
          <a:xfrm>
            <a:off x="495360" y="2457360"/>
            <a:ext cx="190080" cy="151920"/>
          </a:xfrm>
          <a:prstGeom prst="rect">
            <a:avLst/>
          </a:prstGeom>
          <a:ln w="0">
            <a:noFill/>
          </a:ln>
        </p:spPr>
      </p:pic>
      <p:pic>
        <p:nvPicPr>
          <p:cNvPr id="487" name="Image 5" descr="preencoded.png"/>
          <p:cNvPicPr/>
          <p:nvPr/>
        </p:nvPicPr>
        <p:blipFill>
          <a:blip r:embed="rId6"/>
          <a:stretch/>
        </p:blipFill>
        <p:spPr>
          <a:xfrm>
            <a:off x="304920" y="3295800"/>
            <a:ext cx="5562360" cy="2437920"/>
          </a:xfrm>
          <a:prstGeom prst="rect">
            <a:avLst/>
          </a:prstGeom>
          <a:ln w="0">
            <a:noFill/>
          </a:ln>
        </p:spPr>
      </p:pic>
      <p:pic>
        <p:nvPicPr>
          <p:cNvPr id="488" name="Image 6" descr="preencoded.png"/>
          <p:cNvPicPr/>
          <p:nvPr/>
        </p:nvPicPr>
        <p:blipFill>
          <a:blip r:embed="rId7"/>
          <a:stretch/>
        </p:blipFill>
        <p:spPr>
          <a:xfrm>
            <a:off x="495360" y="3905280"/>
            <a:ext cx="5181120" cy="761760"/>
          </a:xfrm>
          <a:prstGeom prst="rect">
            <a:avLst/>
          </a:prstGeom>
          <a:ln w="0">
            <a:noFill/>
          </a:ln>
        </p:spPr>
      </p:pic>
      <p:pic>
        <p:nvPicPr>
          <p:cNvPr id="489" name="Image 7" descr="preencoded.png"/>
          <p:cNvPicPr/>
          <p:nvPr/>
        </p:nvPicPr>
        <p:blipFill>
          <a:blip r:embed="rId8"/>
          <a:stretch/>
        </p:blipFill>
        <p:spPr>
          <a:xfrm>
            <a:off x="609480" y="4048200"/>
            <a:ext cx="132840" cy="171000"/>
          </a:xfrm>
          <a:prstGeom prst="rect">
            <a:avLst/>
          </a:prstGeom>
          <a:ln w="0">
            <a:noFill/>
          </a:ln>
        </p:spPr>
      </p:pic>
      <p:pic>
        <p:nvPicPr>
          <p:cNvPr id="490" name="Image 8" descr="preencoded.png"/>
          <p:cNvPicPr/>
          <p:nvPr/>
        </p:nvPicPr>
        <p:blipFill>
          <a:blip r:embed="rId9"/>
          <a:stretch/>
        </p:blipFill>
        <p:spPr>
          <a:xfrm>
            <a:off x="495360" y="4781520"/>
            <a:ext cx="5181120" cy="761760"/>
          </a:xfrm>
          <a:prstGeom prst="rect">
            <a:avLst/>
          </a:prstGeom>
          <a:ln w="0">
            <a:noFill/>
          </a:ln>
        </p:spPr>
      </p:pic>
      <p:pic>
        <p:nvPicPr>
          <p:cNvPr id="491" name="Image 9" descr="preencoded.png"/>
          <p:cNvPicPr/>
          <p:nvPr/>
        </p:nvPicPr>
        <p:blipFill>
          <a:blip r:embed="rId10"/>
          <a:stretch/>
        </p:blipFill>
        <p:spPr>
          <a:xfrm>
            <a:off x="609480" y="4924440"/>
            <a:ext cx="171000" cy="171000"/>
          </a:xfrm>
          <a:prstGeom prst="rect">
            <a:avLst/>
          </a:prstGeom>
          <a:ln w="0">
            <a:noFill/>
          </a:ln>
        </p:spPr>
      </p:pic>
      <p:pic>
        <p:nvPicPr>
          <p:cNvPr id="492" name="Image 10" descr="preencoded.png"/>
          <p:cNvPicPr/>
          <p:nvPr/>
        </p:nvPicPr>
        <p:blipFill>
          <a:blip r:embed="rId11"/>
          <a:stretch/>
        </p:blipFill>
        <p:spPr>
          <a:xfrm>
            <a:off x="6324480" y="1162080"/>
            <a:ext cx="5562360" cy="5390640"/>
          </a:xfrm>
          <a:prstGeom prst="rect">
            <a:avLst/>
          </a:prstGeom>
          <a:ln w="0">
            <a:noFill/>
          </a:ln>
        </p:spPr>
      </p:pic>
      <p:pic>
        <p:nvPicPr>
          <p:cNvPr id="493" name="Image 11" descr="preencoded.png"/>
          <p:cNvPicPr/>
          <p:nvPr/>
        </p:nvPicPr>
        <p:blipFill>
          <a:blip r:embed="rId12"/>
          <a:stretch/>
        </p:blipFill>
        <p:spPr>
          <a:xfrm>
            <a:off x="6724800" y="2219400"/>
            <a:ext cx="4762080" cy="2476080"/>
          </a:xfrm>
          <a:prstGeom prst="rect">
            <a:avLst/>
          </a:prstGeom>
          <a:ln w="0">
            <a:noFill/>
          </a:ln>
        </p:spPr>
      </p:pic>
      <p:pic>
        <p:nvPicPr>
          <p:cNvPr id="494" name="Image 12" descr="preencoded.png"/>
          <p:cNvPicPr/>
          <p:nvPr/>
        </p:nvPicPr>
        <p:blipFill>
          <a:blip r:embed="rId13"/>
          <a:stretch/>
        </p:blipFill>
        <p:spPr>
          <a:xfrm>
            <a:off x="6515280" y="5257800"/>
            <a:ext cx="5181120" cy="1104480"/>
          </a:xfrm>
          <a:prstGeom prst="rect">
            <a:avLst/>
          </a:prstGeom>
          <a:ln w="0">
            <a:noFill/>
          </a:ln>
        </p:spPr>
      </p:pic>
      <p:pic>
        <p:nvPicPr>
          <p:cNvPr id="495" name="Image 13" descr="preencoded.png"/>
          <p:cNvPicPr/>
          <p:nvPr/>
        </p:nvPicPr>
        <p:blipFill>
          <a:blip r:embed="rId14"/>
          <a:stretch/>
        </p:blipFill>
        <p:spPr>
          <a:xfrm>
            <a:off x="6629400" y="575316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496" name="Image 14" descr="preencoded.png"/>
          <p:cNvPicPr/>
          <p:nvPr/>
        </p:nvPicPr>
        <p:blipFill>
          <a:blip r:embed="rId15"/>
          <a:stretch/>
        </p:blipFill>
        <p:spPr>
          <a:xfrm>
            <a:off x="9144000" y="575316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497" name="Image 15" descr="preencoded.png"/>
          <p:cNvPicPr/>
          <p:nvPr/>
        </p:nvPicPr>
        <p:blipFill>
          <a:blip r:embed="rId16"/>
          <a:stretch/>
        </p:blipFill>
        <p:spPr>
          <a:xfrm>
            <a:off x="6629400" y="6058080"/>
            <a:ext cx="114120" cy="151920"/>
          </a:xfrm>
          <a:prstGeom prst="rect">
            <a:avLst/>
          </a:prstGeom>
          <a:ln w="0">
            <a:noFill/>
          </a:ln>
        </p:spPr>
      </p:pic>
      <p:pic>
        <p:nvPicPr>
          <p:cNvPr id="498" name="Image 16" descr="preencoded.png"/>
          <p:cNvPicPr/>
          <p:nvPr/>
        </p:nvPicPr>
        <p:blipFill>
          <a:blip r:embed="rId17"/>
          <a:stretch/>
        </p:blipFill>
        <p:spPr>
          <a:xfrm>
            <a:off x="9144000" y="6058080"/>
            <a:ext cx="114120" cy="151920"/>
          </a:xfrm>
          <a:prstGeom prst="rect">
            <a:avLst/>
          </a:prstGeom>
          <a:ln w="0">
            <a:noFill/>
          </a:ln>
        </p:spPr>
      </p:pic>
      <p:sp>
        <p:nvSpPr>
          <p:cNvPr id="499" name="Text 0"/>
          <p:cNvSpPr/>
          <p:nvPr/>
        </p:nvSpPr>
        <p:spPr>
          <a:xfrm>
            <a:off x="380880" y="237960"/>
            <a:ext cx="8053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Cumulative and Interaction Effects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495360" y="1352520"/>
            <a:ext cx="5181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Key Observations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2"/>
          <p:cNvSpPr/>
          <p:nvPr/>
        </p:nvSpPr>
        <p:spPr>
          <a:xfrm>
            <a:off x="762120" y="1771560"/>
            <a:ext cx="49147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Diabetes prevalence increases sharply when multiple risk factors are present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3"/>
          <p:cNvSpPr/>
          <p:nvPr/>
        </p:nvSpPr>
        <p:spPr>
          <a:xfrm>
            <a:off x="800280" y="2419200"/>
            <a:ext cx="48765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Age, BMI, and lifestyle behaviors interact rather than acting independently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4"/>
          <p:cNvSpPr/>
          <p:nvPr/>
        </p:nvSpPr>
        <p:spPr>
          <a:xfrm>
            <a:off x="495360" y="3486240"/>
            <a:ext cx="5181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Analysis Insights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5"/>
          <p:cNvSpPr/>
          <p:nvPr/>
        </p:nvSpPr>
        <p:spPr>
          <a:xfrm>
            <a:off x="819000" y="4019400"/>
            <a:ext cx="49525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The interaction between variables highlights the importance of multivariable analysis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6"/>
          <p:cNvSpPr/>
          <p:nvPr/>
        </p:nvSpPr>
        <p:spPr>
          <a:xfrm>
            <a:off x="857160" y="4896000"/>
            <a:ext cx="49525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ui-sans-serif"/>
                <a:ea typeface="ui-sans-serif"/>
              </a:rPr>
              <a:t>Understanding interaction effects is crucial for developing comprehensive intervention strategies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6515280" y="1352520"/>
            <a:ext cx="6217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Interaction Effects Visualization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8"/>
          <p:cNvSpPr/>
          <p:nvPr/>
        </p:nvSpPr>
        <p:spPr>
          <a:xfrm>
            <a:off x="6629400" y="5372280"/>
            <a:ext cx="5943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Interaction Effects Explained: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9"/>
          <p:cNvSpPr/>
          <p:nvPr/>
        </p:nvSpPr>
        <p:spPr>
          <a:xfrm>
            <a:off x="6819840" y="5715000"/>
            <a:ext cx="96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Age + BMI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10"/>
          <p:cNvSpPr/>
          <p:nvPr/>
        </p:nvSpPr>
        <p:spPr>
          <a:xfrm>
            <a:off x="9334440" y="5715000"/>
            <a:ext cx="1306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Age + 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11"/>
          <p:cNvSpPr/>
          <p:nvPr/>
        </p:nvSpPr>
        <p:spPr>
          <a:xfrm>
            <a:off x="6819840" y="6019920"/>
            <a:ext cx="1290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BMI + 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12"/>
          <p:cNvSpPr/>
          <p:nvPr/>
        </p:nvSpPr>
        <p:spPr>
          <a:xfrm>
            <a:off x="9334440" y="6019920"/>
            <a:ext cx="1913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Age + BMI + 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513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514" name="Image 2" descr="preencoded.png"/>
          <p:cNvPicPr/>
          <p:nvPr/>
        </p:nvPicPr>
        <p:blipFill>
          <a:blip r:embed="rId3"/>
          <a:stretch/>
        </p:blipFill>
        <p:spPr>
          <a:xfrm>
            <a:off x="343080" y="2328840"/>
            <a:ext cx="5714640" cy="4285800"/>
          </a:xfrm>
          <a:prstGeom prst="rect">
            <a:avLst/>
          </a:prstGeom>
          <a:ln w="0">
            <a:noFill/>
          </a:ln>
        </p:spPr>
      </p:pic>
      <p:pic>
        <p:nvPicPr>
          <p:cNvPr id="515" name="Image 3" descr="preencoded.png"/>
          <p:cNvPicPr/>
          <p:nvPr/>
        </p:nvPicPr>
        <p:blipFill>
          <a:blip r:embed="rId4"/>
          <a:stretch/>
        </p:blipFill>
        <p:spPr>
          <a:xfrm>
            <a:off x="6400800" y="2776680"/>
            <a:ext cx="5486040" cy="1257120"/>
          </a:xfrm>
          <a:prstGeom prst="rect">
            <a:avLst/>
          </a:prstGeom>
          <a:ln w="0">
            <a:noFill/>
          </a:ln>
        </p:spPr>
      </p:pic>
      <p:pic>
        <p:nvPicPr>
          <p:cNvPr id="516" name="Image 4" descr="preencoded.png"/>
          <p:cNvPicPr/>
          <p:nvPr/>
        </p:nvPicPr>
        <p:blipFill>
          <a:blip r:embed="rId5"/>
          <a:stretch/>
        </p:blipFill>
        <p:spPr>
          <a:xfrm>
            <a:off x="6553080" y="2928960"/>
            <a:ext cx="447480" cy="495000"/>
          </a:xfrm>
          <a:prstGeom prst="rect">
            <a:avLst/>
          </a:prstGeom>
          <a:ln w="0">
            <a:noFill/>
          </a:ln>
        </p:spPr>
      </p:pic>
      <p:pic>
        <p:nvPicPr>
          <p:cNvPr id="517" name="Image 5" descr="preencoded.png"/>
          <p:cNvPicPr/>
          <p:nvPr/>
        </p:nvPicPr>
        <p:blipFill>
          <a:blip r:embed="rId6"/>
          <a:stretch/>
        </p:blipFill>
        <p:spPr>
          <a:xfrm>
            <a:off x="6667560" y="3043080"/>
            <a:ext cx="218880" cy="266400"/>
          </a:xfrm>
          <a:prstGeom prst="rect">
            <a:avLst/>
          </a:prstGeom>
          <a:ln w="0">
            <a:noFill/>
          </a:ln>
        </p:spPr>
      </p:pic>
      <p:pic>
        <p:nvPicPr>
          <p:cNvPr id="518" name="Image 6" descr="preencoded.png"/>
          <p:cNvPicPr/>
          <p:nvPr/>
        </p:nvPicPr>
        <p:blipFill>
          <a:blip r:embed="rId7"/>
          <a:stretch/>
        </p:blipFill>
        <p:spPr>
          <a:xfrm>
            <a:off x="6400800" y="4186080"/>
            <a:ext cx="5486040" cy="1257120"/>
          </a:xfrm>
          <a:prstGeom prst="rect">
            <a:avLst/>
          </a:prstGeom>
          <a:ln w="0">
            <a:noFill/>
          </a:ln>
        </p:spPr>
      </p:pic>
      <p:pic>
        <p:nvPicPr>
          <p:cNvPr id="519" name="Image 7" descr="preencoded.png"/>
          <p:cNvPicPr/>
          <p:nvPr/>
        </p:nvPicPr>
        <p:blipFill>
          <a:blip r:embed="rId8"/>
          <a:stretch/>
        </p:blipFill>
        <p:spPr>
          <a:xfrm>
            <a:off x="6553080" y="4338720"/>
            <a:ext cx="418680" cy="495000"/>
          </a:xfrm>
          <a:prstGeom prst="rect">
            <a:avLst/>
          </a:prstGeom>
          <a:ln w="0">
            <a:noFill/>
          </a:ln>
        </p:spPr>
      </p:pic>
      <p:pic>
        <p:nvPicPr>
          <p:cNvPr id="520" name="Image 8" descr="preencoded.png"/>
          <p:cNvPicPr/>
          <p:nvPr/>
        </p:nvPicPr>
        <p:blipFill>
          <a:blip r:embed="rId9"/>
          <a:stretch/>
        </p:blipFill>
        <p:spPr>
          <a:xfrm>
            <a:off x="6667560" y="4452840"/>
            <a:ext cx="190080" cy="266400"/>
          </a:xfrm>
          <a:prstGeom prst="rect">
            <a:avLst/>
          </a:prstGeom>
          <a:ln w="0">
            <a:noFill/>
          </a:ln>
        </p:spPr>
      </p:pic>
      <p:pic>
        <p:nvPicPr>
          <p:cNvPr id="521" name="Image 9" descr="preencoded.png"/>
          <p:cNvPicPr/>
          <p:nvPr/>
        </p:nvPicPr>
        <p:blipFill>
          <a:blip r:embed="rId10"/>
          <a:stretch/>
        </p:blipFill>
        <p:spPr>
          <a:xfrm>
            <a:off x="6400800" y="5595840"/>
            <a:ext cx="5486040" cy="1028520"/>
          </a:xfrm>
          <a:prstGeom prst="rect">
            <a:avLst/>
          </a:prstGeom>
          <a:ln w="0">
            <a:noFill/>
          </a:ln>
        </p:spPr>
      </p:pic>
      <p:pic>
        <p:nvPicPr>
          <p:cNvPr id="522" name="Image 10" descr="preencoded.png"/>
          <p:cNvPicPr/>
          <p:nvPr/>
        </p:nvPicPr>
        <p:blipFill>
          <a:blip r:embed="rId11"/>
          <a:stretch/>
        </p:blipFill>
        <p:spPr>
          <a:xfrm>
            <a:off x="6553080" y="5748480"/>
            <a:ext cx="466200" cy="495000"/>
          </a:xfrm>
          <a:prstGeom prst="rect">
            <a:avLst/>
          </a:prstGeom>
          <a:ln w="0">
            <a:noFill/>
          </a:ln>
        </p:spPr>
      </p:pic>
      <p:pic>
        <p:nvPicPr>
          <p:cNvPr id="523" name="Image 11" descr="preencoded.png"/>
          <p:cNvPicPr/>
          <p:nvPr/>
        </p:nvPicPr>
        <p:blipFill>
          <a:blip r:embed="rId12"/>
          <a:stretch/>
        </p:blipFill>
        <p:spPr>
          <a:xfrm>
            <a:off x="6667560" y="5862600"/>
            <a:ext cx="237600" cy="266400"/>
          </a:xfrm>
          <a:prstGeom prst="rect">
            <a:avLst/>
          </a:prstGeom>
          <a:ln w="0">
            <a:noFill/>
          </a:ln>
        </p:spPr>
      </p:pic>
      <p:sp>
        <p:nvSpPr>
          <p:cNvPr id="524" name="Text 0"/>
          <p:cNvSpPr/>
          <p:nvPr/>
        </p:nvSpPr>
        <p:spPr>
          <a:xfrm>
            <a:off x="380880" y="237960"/>
            <a:ext cx="5939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Overall Pattern Synthesis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1"/>
          <p:cNvSpPr/>
          <p:nvPr/>
        </p:nvSpPr>
        <p:spPr>
          <a:xfrm>
            <a:off x="304920" y="1162080"/>
            <a:ext cx="1158192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38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The analysis reveals a network of interconnected patterns linking diabetes prevalence to demographic, physiological, and behavioral indicators. Rather than a single dominant cause, diabetes prevalence emerges from the accumulation and interaction of multiple risk factors across the population.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2"/>
          <p:cNvSpPr/>
          <p:nvPr/>
        </p:nvSpPr>
        <p:spPr>
          <a:xfrm>
            <a:off x="6400800" y="2319480"/>
            <a:ext cx="6583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Key Synthesis Insights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3"/>
          <p:cNvSpPr/>
          <p:nvPr/>
        </p:nvSpPr>
        <p:spPr>
          <a:xfrm>
            <a:off x="7153200" y="2928960"/>
            <a:ext cx="4581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Interconnected Factors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4"/>
          <p:cNvSpPr/>
          <p:nvPr/>
        </p:nvSpPr>
        <p:spPr>
          <a:xfrm>
            <a:off x="7153200" y="3195720"/>
            <a:ext cx="45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Patterns observed are interconnected rather than independent, with each factor influencing and amplifying others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5"/>
          <p:cNvSpPr/>
          <p:nvPr/>
        </p:nvSpPr>
        <p:spPr>
          <a:xfrm>
            <a:off x="7124760" y="4338720"/>
            <a:ext cx="460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Cumulative Effects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6"/>
          <p:cNvSpPr/>
          <p:nvPr/>
        </p:nvSpPr>
        <p:spPr>
          <a:xfrm>
            <a:off x="7124760" y="4605480"/>
            <a:ext cx="4609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Risk accumulation over time, with age amplifying the impact of other risk variables such as BMI and physical inactivity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7"/>
          <p:cNvSpPr/>
          <p:nvPr/>
        </p:nvSpPr>
        <p:spPr>
          <a:xfrm>
            <a:off x="7172280" y="5748480"/>
            <a:ext cx="5474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f2937"/>
                </a:solidFill>
                <a:latin typeface="ui-sans-serif"/>
                <a:ea typeface="ui-sans-serif"/>
              </a:rPr>
              <a:t>Holistic Risk Assessment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8"/>
          <p:cNvSpPr/>
          <p:nvPr/>
        </p:nvSpPr>
        <p:spPr>
          <a:xfrm>
            <a:off x="7172280" y="6014880"/>
            <a:ext cx="456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ui-sans-serif"/>
                <a:ea typeface="ui-sans-serif"/>
              </a:rPr>
              <a:t>Single-factor analysis underestimates overall risk; comprehensive approach needed for accurate assessment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534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535" name="Image 2" descr="preencoded.png"/>
          <p:cNvPicPr/>
          <p:nvPr/>
        </p:nvPicPr>
        <p:blipFill>
          <a:blip r:embed="rId3"/>
          <a:stretch/>
        </p:blipFill>
        <p:spPr>
          <a:xfrm>
            <a:off x="304920" y="1162080"/>
            <a:ext cx="5562360" cy="1695240"/>
          </a:xfrm>
          <a:prstGeom prst="rect">
            <a:avLst/>
          </a:prstGeom>
          <a:ln w="0">
            <a:noFill/>
          </a:ln>
        </p:spPr>
      </p:pic>
      <p:pic>
        <p:nvPicPr>
          <p:cNvPr id="536" name="Image 3" descr="preencoded.png"/>
          <p:cNvPicPr/>
          <p:nvPr/>
        </p:nvPicPr>
        <p:blipFill>
          <a:blip r:embed="rId4"/>
          <a:stretch/>
        </p:blipFill>
        <p:spPr>
          <a:xfrm>
            <a:off x="495360" y="1352520"/>
            <a:ext cx="447480" cy="495000"/>
          </a:xfrm>
          <a:prstGeom prst="rect">
            <a:avLst/>
          </a:prstGeom>
          <a:ln w="0">
            <a:noFill/>
          </a:ln>
        </p:spPr>
      </p:pic>
      <p:pic>
        <p:nvPicPr>
          <p:cNvPr id="537" name="Image 4" descr="preencoded.png"/>
          <p:cNvPicPr/>
          <p:nvPr/>
        </p:nvPicPr>
        <p:blipFill>
          <a:blip r:embed="rId5"/>
          <a:stretch/>
        </p:blipFill>
        <p:spPr>
          <a:xfrm>
            <a:off x="609480" y="1467000"/>
            <a:ext cx="218880" cy="266400"/>
          </a:xfrm>
          <a:prstGeom prst="rect">
            <a:avLst/>
          </a:prstGeom>
          <a:ln w="0">
            <a:noFill/>
          </a:ln>
        </p:spPr>
      </p:pic>
      <p:pic>
        <p:nvPicPr>
          <p:cNvPr id="538" name="Image 5" descr="preencoded.png"/>
          <p:cNvPicPr/>
          <p:nvPr/>
        </p:nvPicPr>
        <p:blipFill>
          <a:blip r:embed="rId6"/>
          <a:stretch/>
        </p:blipFill>
        <p:spPr>
          <a:xfrm>
            <a:off x="304920" y="3009960"/>
            <a:ext cx="5562360" cy="1695240"/>
          </a:xfrm>
          <a:prstGeom prst="rect">
            <a:avLst/>
          </a:prstGeom>
          <a:ln w="0">
            <a:noFill/>
          </a:ln>
        </p:spPr>
      </p:pic>
      <p:pic>
        <p:nvPicPr>
          <p:cNvPr id="539" name="Image 6" descr="preencoded.png"/>
          <p:cNvPicPr/>
          <p:nvPr/>
        </p:nvPicPr>
        <p:blipFill>
          <a:blip r:embed="rId7"/>
          <a:stretch/>
        </p:blipFill>
        <p:spPr>
          <a:xfrm>
            <a:off x="495360" y="3200400"/>
            <a:ext cx="447480" cy="495000"/>
          </a:xfrm>
          <a:prstGeom prst="rect">
            <a:avLst/>
          </a:prstGeom>
          <a:ln w="0">
            <a:noFill/>
          </a:ln>
        </p:spPr>
      </p:pic>
      <p:pic>
        <p:nvPicPr>
          <p:cNvPr id="540" name="Image 7" descr="preencoded.png"/>
          <p:cNvPicPr/>
          <p:nvPr/>
        </p:nvPicPr>
        <p:blipFill>
          <a:blip r:embed="rId8"/>
          <a:stretch/>
        </p:blipFill>
        <p:spPr>
          <a:xfrm>
            <a:off x="609480" y="3314880"/>
            <a:ext cx="218880" cy="266400"/>
          </a:xfrm>
          <a:prstGeom prst="rect">
            <a:avLst/>
          </a:prstGeom>
          <a:ln w="0">
            <a:noFill/>
          </a:ln>
        </p:spPr>
      </p:pic>
      <p:pic>
        <p:nvPicPr>
          <p:cNvPr id="541" name="Image 8" descr="preencoded.png"/>
          <p:cNvPicPr/>
          <p:nvPr/>
        </p:nvPicPr>
        <p:blipFill>
          <a:blip r:embed="rId9"/>
          <a:stretch/>
        </p:blipFill>
        <p:spPr>
          <a:xfrm>
            <a:off x="304920" y="4857840"/>
            <a:ext cx="5562360" cy="1695240"/>
          </a:xfrm>
          <a:prstGeom prst="rect">
            <a:avLst/>
          </a:prstGeom>
          <a:ln w="0">
            <a:noFill/>
          </a:ln>
        </p:spPr>
      </p:pic>
      <p:pic>
        <p:nvPicPr>
          <p:cNvPr id="542" name="Image 9" descr="preencoded.png"/>
          <p:cNvPicPr/>
          <p:nvPr/>
        </p:nvPicPr>
        <p:blipFill>
          <a:blip r:embed="rId10"/>
          <a:stretch/>
        </p:blipFill>
        <p:spPr>
          <a:xfrm>
            <a:off x="495360" y="5048280"/>
            <a:ext cx="371160" cy="495000"/>
          </a:xfrm>
          <a:prstGeom prst="rect">
            <a:avLst/>
          </a:prstGeom>
          <a:ln w="0">
            <a:noFill/>
          </a:ln>
        </p:spPr>
      </p:pic>
      <p:pic>
        <p:nvPicPr>
          <p:cNvPr id="543" name="Image 10" descr="preencoded.png"/>
          <p:cNvPicPr/>
          <p:nvPr/>
        </p:nvPicPr>
        <p:blipFill>
          <a:blip r:embed="rId11"/>
          <a:stretch/>
        </p:blipFill>
        <p:spPr>
          <a:xfrm>
            <a:off x="609480" y="5162400"/>
            <a:ext cx="142560" cy="266400"/>
          </a:xfrm>
          <a:prstGeom prst="rect">
            <a:avLst/>
          </a:prstGeom>
          <a:ln w="0">
            <a:noFill/>
          </a:ln>
        </p:spPr>
      </p:pic>
      <p:pic>
        <p:nvPicPr>
          <p:cNvPr id="544" name="Image 11" descr="preencoded.png"/>
          <p:cNvPicPr/>
          <p:nvPr/>
        </p:nvPicPr>
        <p:blipFill>
          <a:blip r:embed="rId12"/>
          <a:stretch/>
        </p:blipFill>
        <p:spPr>
          <a:xfrm>
            <a:off x="6324480" y="1162080"/>
            <a:ext cx="5562360" cy="5390640"/>
          </a:xfrm>
          <a:prstGeom prst="rect">
            <a:avLst/>
          </a:prstGeom>
          <a:ln w="0">
            <a:noFill/>
          </a:ln>
        </p:spPr>
      </p:pic>
      <p:pic>
        <p:nvPicPr>
          <p:cNvPr id="545" name="Image 12" descr="preencoded.png"/>
          <p:cNvPicPr/>
          <p:nvPr/>
        </p:nvPicPr>
        <p:blipFill>
          <a:blip r:embed="rId13"/>
          <a:stretch/>
        </p:blipFill>
        <p:spPr>
          <a:xfrm>
            <a:off x="6515280" y="1771560"/>
            <a:ext cx="5181120" cy="2971440"/>
          </a:xfrm>
          <a:prstGeom prst="rect">
            <a:avLst/>
          </a:prstGeom>
          <a:ln w="0">
            <a:noFill/>
          </a:ln>
        </p:spPr>
      </p:pic>
      <p:pic>
        <p:nvPicPr>
          <p:cNvPr id="546" name="Image 13" descr="preencoded.png"/>
          <p:cNvPicPr/>
          <p:nvPr/>
        </p:nvPicPr>
        <p:blipFill>
          <a:blip r:embed="rId14"/>
          <a:stretch/>
        </p:blipFill>
        <p:spPr>
          <a:xfrm>
            <a:off x="6515280" y="4915080"/>
            <a:ext cx="5181120" cy="1447560"/>
          </a:xfrm>
          <a:prstGeom prst="rect">
            <a:avLst/>
          </a:prstGeom>
          <a:ln w="0">
            <a:noFill/>
          </a:ln>
        </p:spPr>
      </p:pic>
      <p:pic>
        <p:nvPicPr>
          <p:cNvPr id="547" name="Image 14" descr="preencoded.png"/>
          <p:cNvPicPr/>
          <p:nvPr/>
        </p:nvPicPr>
        <p:blipFill>
          <a:blip r:embed="rId15"/>
          <a:stretch/>
        </p:blipFill>
        <p:spPr>
          <a:xfrm>
            <a:off x="6667560" y="541008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548" name="Image 15" descr="preencoded.png"/>
          <p:cNvPicPr/>
          <p:nvPr/>
        </p:nvPicPr>
        <p:blipFill>
          <a:blip r:embed="rId16"/>
          <a:stretch/>
        </p:blipFill>
        <p:spPr>
          <a:xfrm>
            <a:off x="6667560" y="571500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549" name="Image 16" descr="preencoded.png"/>
          <p:cNvPicPr/>
          <p:nvPr/>
        </p:nvPicPr>
        <p:blipFill>
          <a:blip r:embed="rId17"/>
          <a:stretch/>
        </p:blipFill>
        <p:spPr>
          <a:xfrm>
            <a:off x="6667560" y="6019920"/>
            <a:ext cx="151920" cy="151920"/>
          </a:xfrm>
          <a:prstGeom prst="rect">
            <a:avLst/>
          </a:prstGeom>
          <a:ln w="0">
            <a:noFill/>
          </a:ln>
        </p:spPr>
      </p:pic>
      <p:sp>
        <p:nvSpPr>
          <p:cNvPr id="550" name="Text 0"/>
          <p:cNvSpPr/>
          <p:nvPr/>
        </p:nvSpPr>
        <p:spPr>
          <a:xfrm>
            <a:off x="380880" y="237960"/>
            <a:ext cx="84160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Implications for Predictive Modeling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1"/>
          <p:cNvSpPr/>
          <p:nvPr/>
        </p:nvSpPr>
        <p:spPr>
          <a:xfrm>
            <a:off x="1095480" y="1352520"/>
            <a:ext cx="4581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Multiple Variables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2"/>
          <p:cNvSpPr/>
          <p:nvPr/>
        </p:nvSpPr>
        <p:spPr>
          <a:xfrm>
            <a:off x="1095480" y="1695600"/>
            <a:ext cx="45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Predictive models should incorporate multiple variables including demographic, physiological, and behavioral indicators rather than relying on single-factor approaches.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3"/>
          <p:cNvSpPr/>
          <p:nvPr/>
        </p:nvSpPr>
        <p:spPr>
          <a:xfrm>
            <a:off x="1095480" y="3200400"/>
            <a:ext cx="4581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Interaction Effects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4"/>
          <p:cNvSpPr/>
          <p:nvPr/>
        </p:nvSpPr>
        <p:spPr>
          <a:xfrm>
            <a:off x="1095480" y="3543480"/>
            <a:ext cx="45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Modeling interaction effects between variables provides more accurate risk assessments than assuming independent contributions of each factor.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5"/>
          <p:cNvSpPr/>
          <p:nvPr/>
        </p:nvSpPr>
        <p:spPr>
          <a:xfrm>
            <a:off x="1019160" y="5048280"/>
            <a:ext cx="4657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Derived Metrics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6"/>
          <p:cNvSpPr/>
          <p:nvPr/>
        </p:nvSpPr>
        <p:spPr>
          <a:xfrm>
            <a:off x="1019160" y="5391000"/>
            <a:ext cx="4657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Composite metrics like obesity status and risk scores enhance risk stratification and simplify comparison across population groups.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7"/>
          <p:cNvSpPr/>
          <p:nvPr/>
        </p:nvSpPr>
        <p:spPr>
          <a:xfrm>
            <a:off x="6515280" y="1352520"/>
            <a:ext cx="6217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Holistic Modeling Approach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8"/>
          <p:cNvSpPr/>
          <p:nvPr/>
        </p:nvSpPr>
        <p:spPr>
          <a:xfrm>
            <a:off x="6667560" y="5067360"/>
            <a:ext cx="5851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Key Benefits of Holistic Modeling: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9"/>
          <p:cNvSpPr/>
          <p:nvPr/>
        </p:nvSpPr>
        <p:spPr>
          <a:xfrm>
            <a:off x="6896160" y="5372280"/>
            <a:ext cx="333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Improved accuracy in risk prediction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 10"/>
          <p:cNvSpPr/>
          <p:nvPr/>
        </p:nvSpPr>
        <p:spPr>
          <a:xfrm>
            <a:off x="6896160" y="5676840"/>
            <a:ext cx="362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Enhanced interpretability of risk factors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11"/>
          <p:cNvSpPr/>
          <p:nvPr/>
        </p:nvSpPr>
        <p:spPr>
          <a:xfrm>
            <a:off x="6896160" y="5981760"/>
            <a:ext cx="394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Better identification of high-risk individuals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563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564" name="Image 2" descr="preencoded.png"/>
          <p:cNvPicPr/>
          <p:nvPr/>
        </p:nvPicPr>
        <p:blipFill>
          <a:blip r:embed="rId3"/>
          <a:stretch/>
        </p:blipFill>
        <p:spPr>
          <a:xfrm>
            <a:off x="380880" y="1238400"/>
            <a:ext cx="5409720" cy="2847600"/>
          </a:xfrm>
          <a:prstGeom prst="rect">
            <a:avLst/>
          </a:prstGeom>
          <a:ln w="0">
            <a:noFill/>
          </a:ln>
        </p:spPr>
      </p:pic>
      <p:pic>
        <p:nvPicPr>
          <p:cNvPr id="565" name="Image 3" descr="preencoded.png"/>
          <p:cNvPicPr/>
          <p:nvPr/>
        </p:nvPicPr>
        <p:blipFill>
          <a:blip r:embed="rId4"/>
          <a:stretch/>
        </p:blipFill>
        <p:spPr>
          <a:xfrm>
            <a:off x="609480" y="1467000"/>
            <a:ext cx="256680" cy="380520"/>
          </a:xfrm>
          <a:prstGeom prst="rect">
            <a:avLst/>
          </a:prstGeom>
          <a:ln w="0">
            <a:noFill/>
          </a:ln>
        </p:spPr>
      </p:pic>
      <p:pic>
        <p:nvPicPr>
          <p:cNvPr id="566" name="Image 4" descr="preencoded.png"/>
          <p:cNvPicPr/>
          <p:nvPr/>
        </p:nvPicPr>
        <p:blipFill>
          <a:blip r:embed="rId5"/>
          <a:stretch/>
        </p:blipFill>
        <p:spPr>
          <a:xfrm>
            <a:off x="380880" y="4314960"/>
            <a:ext cx="5409720" cy="2819160"/>
          </a:xfrm>
          <a:prstGeom prst="rect">
            <a:avLst/>
          </a:prstGeom>
          <a:ln w="0">
            <a:noFill/>
          </a:ln>
        </p:spPr>
      </p:pic>
      <p:pic>
        <p:nvPicPr>
          <p:cNvPr id="567" name="Image 5" descr="preencoded.png"/>
          <p:cNvPicPr/>
          <p:nvPr/>
        </p:nvPicPr>
        <p:blipFill>
          <a:blip r:embed="rId6"/>
          <a:stretch/>
        </p:blipFill>
        <p:spPr>
          <a:xfrm>
            <a:off x="609480" y="506736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568" name="Image 6" descr="preencoded.png"/>
          <p:cNvPicPr/>
          <p:nvPr/>
        </p:nvPicPr>
        <p:blipFill>
          <a:blip r:embed="rId7"/>
          <a:stretch/>
        </p:blipFill>
        <p:spPr>
          <a:xfrm>
            <a:off x="609480" y="575316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569" name="Image 7" descr="preencoded.png"/>
          <p:cNvPicPr/>
          <p:nvPr/>
        </p:nvPicPr>
        <p:blipFill>
          <a:blip r:embed="rId8"/>
          <a:stretch/>
        </p:blipFill>
        <p:spPr>
          <a:xfrm>
            <a:off x="609480" y="6438960"/>
            <a:ext cx="151920" cy="151920"/>
          </a:xfrm>
          <a:prstGeom prst="rect">
            <a:avLst/>
          </a:prstGeom>
          <a:ln w="0">
            <a:noFill/>
          </a:ln>
        </p:spPr>
      </p:pic>
      <p:pic>
        <p:nvPicPr>
          <p:cNvPr id="570" name="Image 8" descr="preencoded.png"/>
          <p:cNvPicPr/>
          <p:nvPr/>
        </p:nvPicPr>
        <p:blipFill>
          <a:blip r:embed="rId9"/>
          <a:stretch/>
        </p:blipFill>
        <p:spPr>
          <a:xfrm>
            <a:off x="6248520" y="1238400"/>
            <a:ext cx="5562360" cy="5238360"/>
          </a:xfrm>
          <a:prstGeom prst="rect">
            <a:avLst/>
          </a:prstGeom>
          <a:ln w="0">
            <a:noFill/>
          </a:ln>
        </p:spPr>
      </p:pic>
      <p:pic>
        <p:nvPicPr>
          <p:cNvPr id="571" name="Image 9" descr="preencoded.png"/>
          <p:cNvPicPr/>
          <p:nvPr/>
        </p:nvPicPr>
        <p:blipFill>
          <a:blip r:embed="rId10"/>
          <a:stretch/>
        </p:blipFill>
        <p:spPr>
          <a:xfrm>
            <a:off x="6477120" y="1933560"/>
            <a:ext cx="5105160" cy="3047760"/>
          </a:xfrm>
          <a:prstGeom prst="rect">
            <a:avLst/>
          </a:prstGeom>
          <a:ln w="0">
            <a:noFill/>
          </a:ln>
        </p:spPr>
      </p:pic>
      <p:pic>
        <p:nvPicPr>
          <p:cNvPr id="572" name="Image 10" descr="preencoded.png"/>
          <p:cNvPicPr/>
          <p:nvPr/>
        </p:nvPicPr>
        <p:blipFill>
          <a:blip r:embed="rId11"/>
          <a:stretch/>
        </p:blipFill>
        <p:spPr>
          <a:xfrm>
            <a:off x="6477120" y="5143680"/>
            <a:ext cx="5105160" cy="1104480"/>
          </a:xfrm>
          <a:prstGeom prst="rect">
            <a:avLst/>
          </a:prstGeom>
          <a:ln w="0">
            <a:noFill/>
          </a:ln>
        </p:spPr>
      </p:pic>
      <p:pic>
        <p:nvPicPr>
          <p:cNvPr id="573" name="Image 11" descr="preencoded.png"/>
          <p:cNvPicPr/>
          <p:nvPr/>
        </p:nvPicPr>
        <p:blipFill>
          <a:blip r:embed="rId12"/>
          <a:stretch/>
        </p:blipFill>
        <p:spPr>
          <a:xfrm>
            <a:off x="7209360" y="5324400"/>
            <a:ext cx="151920" cy="171000"/>
          </a:xfrm>
          <a:prstGeom prst="rect">
            <a:avLst/>
          </a:prstGeom>
          <a:ln w="0">
            <a:noFill/>
          </a:ln>
        </p:spPr>
      </p:pic>
      <p:pic>
        <p:nvPicPr>
          <p:cNvPr id="574" name="Image 12" descr="preencoded.png"/>
          <p:cNvPicPr/>
          <p:nvPr/>
        </p:nvPicPr>
        <p:blipFill>
          <a:blip r:embed="rId13"/>
          <a:stretch/>
        </p:blipFill>
        <p:spPr>
          <a:xfrm>
            <a:off x="9940320" y="5857920"/>
            <a:ext cx="161640" cy="171000"/>
          </a:xfrm>
          <a:prstGeom prst="rect">
            <a:avLst/>
          </a:prstGeom>
          <a:ln w="0">
            <a:noFill/>
          </a:ln>
        </p:spPr>
      </p:pic>
      <p:sp>
        <p:nvSpPr>
          <p:cNvPr id="575" name="Text 0"/>
          <p:cNvSpPr/>
          <p:nvPr/>
        </p:nvSpPr>
        <p:spPr>
          <a:xfrm>
            <a:off x="380880" y="237960"/>
            <a:ext cx="2516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Conclusion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 1"/>
          <p:cNvSpPr/>
          <p:nvPr/>
        </p:nvSpPr>
        <p:spPr>
          <a:xfrm>
            <a:off x="1019160" y="1504800"/>
            <a:ext cx="1745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Key Insight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2"/>
          <p:cNvSpPr/>
          <p:nvPr/>
        </p:nvSpPr>
        <p:spPr>
          <a:xfrm>
            <a:off x="609480" y="2000160"/>
            <a:ext cx="4952520" cy="18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38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This study demonstrates the value of comprehensive pattern analysis in understanding diabetes prevalence. By examining all observable patterns, the analysis provides a nuanced and realistic view of diabetes risk within the studied population.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3"/>
          <p:cNvSpPr/>
          <p:nvPr/>
        </p:nvSpPr>
        <p:spPr>
          <a:xfrm>
            <a:off x="609480" y="4543560"/>
            <a:ext cx="5943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Comprehensive Analysis Value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4"/>
          <p:cNvSpPr/>
          <p:nvPr/>
        </p:nvSpPr>
        <p:spPr>
          <a:xfrm>
            <a:off x="876240" y="5000760"/>
            <a:ext cx="4686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Captures multidimensional risk profiles across demographic, physiological, and behavioral indicators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5"/>
          <p:cNvSpPr/>
          <p:nvPr/>
        </p:nvSpPr>
        <p:spPr>
          <a:xfrm>
            <a:off x="876240" y="5686560"/>
            <a:ext cx="4686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Reveals interactions and cumulative effects between multiple risk factors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6"/>
          <p:cNvSpPr/>
          <p:nvPr/>
        </p:nvSpPr>
        <p:spPr>
          <a:xfrm>
            <a:off x="876240" y="6372360"/>
            <a:ext cx="4686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Provides foundation for future predictive modeling and risk assessment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7"/>
          <p:cNvSpPr/>
          <p:nvPr/>
        </p:nvSpPr>
        <p:spPr>
          <a:xfrm>
            <a:off x="5966640" y="1467000"/>
            <a:ext cx="6126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e22ce"/>
                </a:solidFill>
                <a:latin typeface="ui-sans-serif"/>
                <a:ea typeface="ui-sans-serif"/>
              </a:rPr>
              <a:t>Interconnected Patterns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8"/>
          <p:cNvSpPr/>
          <p:nvPr/>
        </p:nvSpPr>
        <p:spPr>
          <a:xfrm>
            <a:off x="6629400" y="5295960"/>
            <a:ext cx="480024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 </a:t>
            </a:r>
            <a:r>
              <a:rPr b="0" lang="en-US" sz="1350" spc="-1" strike="noStrike">
                <a:solidFill>
                  <a:srgbClr val="374151"/>
                </a:solidFill>
                <a:latin typeface="ui-sans-serif"/>
                <a:ea typeface="ui-sans-serif"/>
              </a:rPr>
              <a:t>Diabetes prevalence emerges from the accumulation and interaction of multiple risk factors across the population 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585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856800"/>
          </a:xfrm>
          <a:prstGeom prst="rect">
            <a:avLst/>
          </a:prstGeom>
          <a:ln w="0">
            <a:noFill/>
          </a:ln>
        </p:spPr>
      </p:pic>
      <p:pic>
        <p:nvPicPr>
          <p:cNvPr id="586" name="Image 2" descr="preencoded.png"/>
          <p:cNvPicPr/>
          <p:nvPr/>
        </p:nvPicPr>
        <p:blipFill>
          <a:blip r:embed="rId3"/>
          <a:stretch/>
        </p:blipFill>
        <p:spPr>
          <a:xfrm>
            <a:off x="304920" y="1657440"/>
            <a:ext cx="5676480" cy="2028600"/>
          </a:xfrm>
          <a:prstGeom prst="rect">
            <a:avLst/>
          </a:prstGeom>
          <a:ln w="0">
            <a:noFill/>
          </a:ln>
        </p:spPr>
      </p:pic>
      <p:pic>
        <p:nvPicPr>
          <p:cNvPr id="587" name="Image 3" descr="preencoded.png"/>
          <p:cNvPicPr/>
          <p:nvPr/>
        </p:nvPicPr>
        <p:blipFill>
          <a:blip r:embed="rId4"/>
          <a:stretch/>
        </p:blipFill>
        <p:spPr>
          <a:xfrm>
            <a:off x="533520" y="1886040"/>
            <a:ext cx="761760" cy="761760"/>
          </a:xfrm>
          <a:prstGeom prst="rect">
            <a:avLst/>
          </a:prstGeom>
          <a:ln w="0">
            <a:noFill/>
          </a:ln>
        </p:spPr>
      </p:pic>
      <p:pic>
        <p:nvPicPr>
          <p:cNvPr id="588" name="Image 4" descr="preencoded.png"/>
          <p:cNvPicPr/>
          <p:nvPr/>
        </p:nvPicPr>
        <p:blipFill>
          <a:blip r:embed="rId5"/>
          <a:stretch/>
        </p:blipFill>
        <p:spPr>
          <a:xfrm>
            <a:off x="762120" y="2076480"/>
            <a:ext cx="304560" cy="380520"/>
          </a:xfrm>
          <a:prstGeom prst="rect">
            <a:avLst/>
          </a:prstGeom>
          <a:ln w="0">
            <a:noFill/>
          </a:ln>
        </p:spPr>
      </p:pic>
      <p:pic>
        <p:nvPicPr>
          <p:cNvPr id="589" name="Image 5" descr="preencoded.png"/>
          <p:cNvPicPr/>
          <p:nvPr/>
        </p:nvPicPr>
        <p:blipFill>
          <a:blip r:embed="rId6"/>
          <a:stretch/>
        </p:blipFill>
        <p:spPr>
          <a:xfrm>
            <a:off x="6210360" y="1657440"/>
            <a:ext cx="5676480" cy="2028600"/>
          </a:xfrm>
          <a:prstGeom prst="rect">
            <a:avLst/>
          </a:prstGeom>
          <a:ln w="0">
            <a:noFill/>
          </a:ln>
        </p:spPr>
      </p:pic>
      <p:pic>
        <p:nvPicPr>
          <p:cNvPr id="590" name="Image 6" descr="preencoded.png"/>
          <p:cNvPicPr/>
          <p:nvPr/>
        </p:nvPicPr>
        <p:blipFill>
          <a:blip r:embed="rId7"/>
          <a:stretch/>
        </p:blipFill>
        <p:spPr>
          <a:xfrm>
            <a:off x="6438960" y="1886040"/>
            <a:ext cx="761760" cy="761760"/>
          </a:xfrm>
          <a:prstGeom prst="rect">
            <a:avLst/>
          </a:prstGeom>
          <a:ln w="0">
            <a:noFill/>
          </a:ln>
        </p:spPr>
      </p:pic>
      <p:pic>
        <p:nvPicPr>
          <p:cNvPr id="591" name="Image 7" descr="preencoded.png"/>
          <p:cNvPicPr/>
          <p:nvPr/>
        </p:nvPicPr>
        <p:blipFill>
          <a:blip r:embed="rId8"/>
          <a:stretch/>
        </p:blipFill>
        <p:spPr>
          <a:xfrm>
            <a:off x="6605640" y="2076480"/>
            <a:ext cx="428400" cy="380520"/>
          </a:xfrm>
          <a:prstGeom prst="rect">
            <a:avLst/>
          </a:prstGeom>
          <a:ln w="0">
            <a:noFill/>
          </a:ln>
        </p:spPr>
      </p:pic>
      <p:pic>
        <p:nvPicPr>
          <p:cNvPr id="592" name="Image 8" descr="preencoded.png"/>
          <p:cNvPicPr/>
          <p:nvPr/>
        </p:nvPicPr>
        <p:blipFill>
          <a:blip r:embed="rId9"/>
          <a:stretch/>
        </p:blipFill>
        <p:spPr>
          <a:xfrm>
            <a:off x="304920" y="3914640"/>
            <a:ext cx="5676480" cy="2028600"/>
          </a:xfrm>
          <a:prstGeom prst="rect">
            <a:avLst/>
          </a:prstGeom>
          <a:ln w="0">
            <a:noFill/>
          </a:ln>
        </p:spPr>
      </p:pic>
      <p:pic>
        <p:nvPicPr>
          <p:cNvPr id="593" name="Image 9" descr="preencoded.png"/>
          <p:cNvPicPr/>
          <p:nvPr/>
        </p:nvPicPr>
        <p:blipFill>
          <a:blip r:embed="rId10"/>
          <a:stretch/>
        </p:blipFill>
        <p:spPr>
          <a:xfrm>
            <a:off x="533520" y="4143240"/>
            <a:ext cx="761760" cy="761760"/>
          </a:xfrm>
          <a:prstGeom prst="rect">
            <a:avLst/>
          </a:prstGeom>
          <a:ln w="0">
            <a:noFill/>
          </a:ln>
        </p:spPr>
      </p:pic>
      <p:pic>
        <p:nvPicPr>
          <p:cNvPr id="594" name="Image 10" descr="preencoded.png"/>
          <p:cNvPicPr/>
          <p:nvPr/>
        </p:nvPicPr>
        <p:blipFill>
          <a:blip r:embed="rId11"/>
          <a:stretch/>
        </p:blipFill>
        <p:spPr>
          <a:xfrm>
            <a:off x="743040" y="4334040"/>
            <a:ext cx="342720" cy="380520"/>
          </a:xfrm>
          <a:prstGeom prst="rect">
            <a:avLst/>
          </a:prstGeom>
          <a:ln w="0">
            <a:noFill/>
          </a:ln>
        </p:spPr>
      </p:pic>
      <p:pic>
        <p:nvPicPr>
          <p:cNvPr id="595" name="Image 11" descr="preencoded.png"/>
          <p:cNvPicPr/>
          <p:nvPr/>
        </p:nvPicPr>
        <p:blipFill>
          <a:blip r:embed="rId12"/>
          <a:stretch/>
        </p:blipFill>
        <p:spPr>
          <a:xfrm>
            <a:off x="6210360" y="3914640"/>
            <a:ext cx="5676480" cy="2028600"/>
          </a:xfrm>
          <a:prstGeom prst="rect">
            <a:avLst/>
          </a:prstGeom>
          <a:ln w="0">
            <a:noFill/>
          </a:ln>
        </p:spPr>
      </p:pic>
      <p:pic>
        <p:nvPicPr>
          <p:cNvPr id="596" name="Image 12" descr="preencoded.png"/>
          <p:cNvPicPr/>
          <p:nvPr/>
        </p:nvPicPr>
        <p:blipFill>
          <a:blip r:embed="rId13"/>
          <a:stretch/>
        </p:blipFill>
        <p:spPr>
          <a:xfrm>
            <a:off x="6438960" y="4143240"/>
            <a:ext cx="761760" cy="761760"/>
          </a:xfrm>
          <a:prstGeom prst="rect">
            <a:avLst/>
          </a:prstGeom>
          <a:ln w="0">
            <a:noFill/>
          </a:ln>
        </p:spPr>
      </p:pic>
      <p:pic>
        <p:nvPicPr>
          <p:cNvPr id="597" name="Image 13" descr="preencoded.png"/>
          <p:cNvPicPr/>
          <p:nvPr/>
        </p:nvPicPr>
        <p:blipFill>
          <a:blip r:embed="rId14"/>
          <a:stretch/>
        </p:blipFill>
        <p:spPr>
          <a:xfrm>
            <a:off x="6624720" y="4334040"/>
            <a:ext cx="390240" cy="380520"/>
          </a:xfrm>
          <a:prstGeom prst="rect">
            <a:avLst/>
          </a:prstGeom>
          <a:ln w="0">
            <a:noFill/>
          </a:ln>
        </p:spPr>
      </p:pic>
      <p:pic>
        <p:nvPicPr>
          <p:cNvPr id="598" name="Image 14" descr="preencoded.png"/>
          <p:cNvPicPr/>
          <p:nvPr/>
        </p:nvPicPr>
        <p:blipFill>
          <a:blip r:embed="rId15"/>
          <a:stretch/>
        </p:blipFill>
        <p:spPr>
          <a:xfrm>
            <a:off x="4505400" y="6172200"/>
            <a:ext cx="3180960" cy="380520"/>
          </a:xfrm>
          <a:prstGeom prst="rect">
            <a:avLst/>
          </a:prstGeom>
          <a:ln w="0">
            <a:noFill/>
          </a:ln>
        </p:spPr>
      </p:pic>
      <p:pic>
        <p:nvPicPr>
          <p:cNvPr id="599" name="Image 15" descr="preencoded.png"/>
          <p:cNvPicPr/>
          <p:nvPr/>
        </p:nvPicPr>
        <p:blipFill>
          <a:blip r:embed="rId16"/>
          <a:stretch/>
        </p:blipFill>
        <p:spPr>
          <a:xfrm>
            <a:off x="4734000" y="6276960"/>
            <a:ext cx="142560" cy="151920"/>
          </a:xfrm>
          <a:prstGeom prst="rect">
            <a:avLst/>
          </a:prstGeom>
          <a:ln w="0">
            <a:noFill/>
          </a:ln>
        </p:spPr>
      </p:pic>
      <p:pic>
        <p:nvPicPr>
          <p:cNvPr id="600" name="Image 16" descr="preencoded.png"/>
          <p:cNvPicPr/>
          <p:nvPr/>
        </p:nvPicPr>
        <p:blipFill>
          <a:blip r:embed="rId17"/>
          <a:stretch/>
        </p:blipFill>
        <p:spPr>
          <a:xfrm>
            <a:off x="7315200" y="6276960"/>
            <a:ext cx="142560" cy="151920"/>
          </a:xfrm>
          <a:prstGeom prst="rect">
            <a:avLst/>
          </a:prstGeom>
          <a:ln w="0">
            <a:noFill/>
          </a:ln>
        </p:spPr>
      </p:pic>
      <p:sp>
        <p:nvSpPr>
          <p:cNvPr id="601" name="Text 0"/>
          <p:cNvSpPr/>
          <p:nvPr/>
        </p:nvSpPr>
        <p:spPr>
          <a:xfrm>
            <a:off x="380880" y="237960"/>
            <a:ext cx="4282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ui-sans-serif"/>
                <a:ea typeface="ui-sans-serif"/>
              </a:rPr>
              <a:t>Recommendations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1"/>
          <p:cNvSpPr/>
          <p:nvPr/>
        </p:nvSpPr>
        <p:spPr>
          <a:xfrm>
            <a:off x="-853560" y="1162080"/>
            <a:ext cx="13898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Based on our analysis of diabetes prevalence patterns, we propose the following strategic recommendations: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2"/>
          <p:cNvSpPr/>
          <p:nvPr/>
        </p:nvSpPr>
        <p:spPr>
          <a:xfrm>
            <a:off x="1486080" y="1886040"/>
            <a:ext cx="5120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a34a"/>
                </a:solidFill>
                <a:latin typeface="ui-sans-serif"/>
                <a:ea typeface="ui-sans-serif"/>
              </a:rPr>
              <a:t>Promote Physical Activity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3"/>
          <p:cNvSpPr/>
          <p:nvPr/>
        </p:nvSpPr>
        <p:spPr>
          <a:xfrm>
            <a:off x="1486080" y="2305080"/>
            <a:ext cx="4266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Implement community-wide initiatives to increase physical activity levels, particularly in middle-aged and older adults who show the highest diabetes risk. Create accessible fitness programs tailored to different age groups.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4"/>
          <p:cNvSpPr/>
          <p:nvPr/>
        </p:nvSpPr>
        <p:spPr>
          <a:xfrm>
            <a:off x="7391520" y="1886040"/>
            <a:ext cx="5120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9333ea"/>
                </a:solidFill>
                <a:latin typeface="ui-sans-serif"/>
                <a:ea typeface="ui-sans-serif"/>
              </a:rPr>
              <a:t>Targeted Interventions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5"/>
          <p:cNvSpPr/>
          <p:nvPr/>
        </p:nvSpPr>
        <p:spPr>
          <a:xfrm>
            <a:off x="7391520" y="2305080"/>
            <a:ext cx="4266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Develop customized intervention programs for high-risk population groups identified through our analysis, particularly focusing on middle-aged adults with overweight/obesity and low physical activity levels.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6"/>
          <p:cNvSpPr/>
          <p:nvPr/>
        </p:nvSpPr>
        <p:spPr>
          <a:xfrm>
            <a:off x="1486080" y="4143240"/>
            <a:ext cx="5120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563eb"/>
                </a:solidFill>
                <a:latin typeface="ui-sans-serif"/>
                <a:ea typeface="ui-sans-serif"/>
              </a:rPr>
              <a:t>Integrated Monitoring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7"/>
          <p:cNvSpPr/>
          <p:nvPr/>
        </p:nvSpPr>
        <p:spPr>
          <a:xfrm>
            <a:off x="1486080" y="4562640"/>
            <a:ext cx="4266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Encourage comprehensive tracking of both lifestyle behaviors and health indicators to provide a holistic assessment of diabetes risk. Implement screening programs that consider multiple risk factors simultaneously.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8"/>
          <p:cNvSpPr/>
          <p:nvPr/>
        </p:nvSpPr>
        <p:spPr>
          <a:xfrm>
            <a:off x="7391520" y="4143240"/>
            <a:ext cx="5120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a580c"/>
                </a:solidFill>
                <a:latin typeface="ui-sans-serif"/>
                <a:ea typeface="ui-sans-serif"/>
              </a:rPr>
              <a:t>Data-Driven Policy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9"/>
          <p:cNvSpPr/>
          <p:nvPr/>
        </p:nvSpPr>
        <p:spPr>
          <a:xfrm>
            <a:off x="7391520" y="4562640"/>
            <a:ext cx="4266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Use data insights to inform public health policy development. Create decision-support tools that incorporate our findings on interaction effects between risk factors to optimize resource allocation and intervention strategies.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10"/>
          <p:cNvSpPr/>
          <p:nvPr/>
        </p:nvSpPr>
        <p:spPr>
          <a:xfrm>
            <a:off x="4187160" y="6172200"/>
            <a:ext cx="3817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 </a:t>
            </a:r>
            <a:r>
              <a:rPr b="0" lang="en-US" sz="1200" spc="-1" strike="noStrike">
                <a:solidFill>
                  <a:srgbClr val="374151"/>
                </a:solidFill>
                <a:latin typeface="ui-sans-serif"/>
                <a:ea typeface="ui-sans-serif"/>
              </a:rPr>
              <a:t>Thank you for your attention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2026-01-23T04:21:06Z</dcterms:created>
  <dc:creator>PptxGenJS</dc:creator>
  <dc:description/>
  <dc:language>en-US</dc:language>
  <cp:lastModifiedBy/>
  <dcterms:modified xsi:type="dcterms:W3CDTF">2026-01-23T04:30:45Z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